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1" r:id="rId6"/>
    <p:sldId id="272" r:id="rId7"/>
    <p:sldId id="265" r:id="rId8"/>
    <p:sldId id="261" r:id="rId9"/>
    <p:sldId id="262" r:id="rId10"/>
    <p:sldId id="264" r:id="rId11"/>
    <p:sldId id="267" r:id="rId12"/>
    <p:sldId id="273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69" autoAdjust="0"/>
    <p:restoredTop sz="96047" autoAdjust="0"/>
  </p:normalViewPr>
  <p:slideViewPr>
    <p:cSldViewPr snapToGrid="0" snapToObjects="1">
      <p:cViewPr>
        <p:scale>
          <a:sx n="86" d="100"/>
          <a:sy n="86" d="100"/>
        </p:scale>
        <p:origin x="928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1435-013C-4EC9-B46E-05FD6959ED6A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EF139-3A40-4F43-B73F-4FFD00A72C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568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/>
              <a:t> </a:t>
            </a:r>
            <a:r>
              <a:rPr lang="en-US" altLang="zh-CN" sz="1200" dirty="0"/>
              <a:t>Claude Code</a:t>
            </a:r>
            <a:r>
              <a:rPr lang="zh-CN" altLang="en-US" sz="1200" dirty="0"/>
              <a:t>、</a:t>
            </a:r>
            <a:r>
              <a:rPr lang="en-US" altLang="zh-CN" sz="1200" dirty="0"/>
              <a:t>Cursor</a:t>
            </a:r>
            <a:r>
              <a:rPr lang="zh-CN" altLang="en-US" sz="1200" dirty="0"/>
              <a:t>、</a:t>
            </a:r>
            <a:r>
              <a:rPr lang="en-US" altLang="zh-CN" sz="1200" dirty="0"/>
              <a:t>GitHub</a:t>
            </a:r>
            <a:r>
              <a:rPr lang="zh-CN" altLang="en-US" sz="1200" dirty="0"/>
              <a:t> </a:t>
            </a:r>
            <a:r>
              <a:rPr lang="en-US" altLang="zh-CN" sz="1200" dirty="0"/>
              <a:t>Copilot </a:t>
            </a:r>
            <a:r>
              <a:rPr lang="zh-CN" altLang="en-US" sz="1200" dirty="0"/>
              <a:t>等 </a:t>
            </a:r>
            <a:r>
              <a:rPr lang="en-US" altLang="zh-CN" sz="1200" dirty="0"/>
              <a:t>AI Coding Agent </a:t>
            </a:r>
            <a:r>
              <a:rPr lang="zh-CN" altLang="en-US" sz="1200" dirty="0"/>
              <a:t>正在改变软件开发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范式</a:t>
            </a:r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/>
              <a:t>  能够自主理解需求、规划任务、编辑代码，大幅提升开发效率。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  <a:endParaRPr lang="zh-CN" altLang="en-US" dirty="0"/>
          </a:p>
          <a:p>
            <a:pPr>
              <a:spcAft>
                <a:spcPts val="300"/>
              </a:spcAft>
              <a:defRPr sz="1700" b="1">
                <a:solidFill>
                  <a:srgbClr val="8B0000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▎二、</a:t>
            </a:r>
            <a:r>
              <a:rPr lang="zh-CN" altLang="en-US" dirty="0"/>
              <a:t>多 </a:t>
            </a:r>
            <a:r>
              <a:rPr lang="en-US" altLang="zh-CN" dirty="0"/>
              <a:t>Agent </a:t>
            </a:r>
            <a:r>
              <a:rPr lang="zh-CN" altLang="en-US" dirty="0"/>
              <a:t>顺序协作的「上下文断裂」问题</a:t>
            </a:r>
          </a:p>
          <a:p>
            <a:pPr>
              <a:spcAft>
                <a:spcPts val="3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 lang="zh-CN" altLang="en-US" sz="1200" dirty="0"/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/>
              <a:t>  在实际项目中，多个 </a:t>
            </a:r>
            <a:r>
              <a:rPr lang="en-US" altLang="zh-CN" sz="1200" dirty="0"/>
              <a:t>Agent </a:t>
            </a:r>
            <a:r>
              <a:rPr lang="zh-CN" altLang="en-US" sz="1200" dirty="0"/>
              <a:t>需要在同一仓库中接力完成任务。</a:t>
            </a:r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/>
              <a:t>  由于上下文窗口有限，</a:t>
            </a:r>
            <a:r>
              <a:rPr lang="en-US" altLang="zh-CN" sz="1200" dirty="0"/>
              <a:t>Agent</a:t>
            </a:r>
            <a:r>
              <a:rPr lang="zh-CN" altLang="en-US" sz="1200" dirty="0"/>
              <a:t> 之间缺乏有效的信息传递机制：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b="1" dirty="0"/>
              <a:t>    ✦ 上下文丢失 </a:t>
            </a:r>
            <a:r>
              <a:rPr lang="en-US" altLang="zh-CN" sz="1200" b="1" dirty="0"/>
              <a:t>— </a:t>
            </a:r>
            <a:r>
              <a:rPr lang="zh-CN" altLang="en-US" sz="1200" b="1" dirty="0"/>
              <a:t>后续 </a:t>
            </a:r>
            <a:r>
              <a:rPr lang="en-US" altLang="zh-CN" sz="1200" b="1" dirty="0"/>
              <a:t>Agent </a:t>
            </a:r>
            <a:r>
              <a:rPr lang="zh-CN" altLang="en-US" sz="1200" b="1" dirty="0"/>
              <a:t>无法获取前置决策背景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b="1" dirty="0"/>
              <a:t>    ✦ 重复工作 </a:t>
            </a:r>
            <a:r>
              <a:rPr lang="en-US" altLang="zh-CN" sz="1200" b="1" dirty="0"/>
              <a:t>— </a:t>
            </a:r>
            <a:r>
              <a:rPr lang="zh-CN" altLang="en-US" sz="1200" b="1" dirty="0"/>
              <a:t>缺乏共享状态导致重复探索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b="1" dirty="0"/>
              <a:t>    ✦ </a:t>
            </a:r>
            <a:r>
              <a:rPr lang="en-US" altLang="zh-CN" sz="1200" b="1" dirty="0"/>
              <a:t>Scope Drift — Agent </a:t>
            </a:r>
            <a:r>
              <a:rPr lang="zh-CN" altLang="en-US" sz="1200" b="1" dirty="0"/>
              <a:t>容易超出任务范围修改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b="1" dirty="0"/>
              <a:t>    ✦ 交接不完整 </a:t>
            </a:r>
            <a:r>
              <a:rPr lang="en-US" altLang="zh-CN" sz="1200" b="1" dirty="0"/>
              <a:t>— </a:t>
            </a:r>
            <a:r>
              <a:rPr lang="zh-CN" altLang="en-US" sz="1200" b="1" dirty="0"/>
              <a:t>任务交接信息缺失或格式不一致</a:t>
            </a:r>
          </a:p>
          <a:p>
            <a:pPr>
              <a:spcAft>
                <a:spcPts val="3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  <a:endParaRPr lang="zh-CN" altLang="en-US" dirty="0"/>
          </a:p>
          <a:p>
            <a:pPr>
              <a:spcAft>
                <a:spcPts val="300"/>
              </a:spcAft>
              <a:defRPr sz="1700" b="1">
                <a:solidFill>
                  <a:srgbClr val="8B0000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▎三、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CodingAgent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的不可控性</a:t>
            </a:r>
            <a:endParaRPr lang="zh-CN" altLang="en-US" dirty="0"/>
          </a:p>
          <a:p>
            <a:pPr>
              <a:spcAft>
                <a:spcPts val="3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 lang="zh-CN" altLang="en-US" dirty="0"/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往往会按照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自身的训练偏好和推理习惯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完成任务，而不是严格遵循当前仓库的风格和开发规范。这种不可控性会导致代码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风格漂移、冗余补丁函数增多、结构设计偏离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上下文信息丢失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等问题，从而影响代码库的长期可维护性。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361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100C1-6DBD-68C3-1F68-F52598ED8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C32D49-D742-A306-9BBF-BE2FF9CD9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59C2A6-B7C0-590D-9745-2A0EF120C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保留一个架构设计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A22F43-5724-CF7C-9827-2663EA8AA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68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642C1-8170-94D9-CF51-8CFC2B13E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9AD76B-67C3-1A74-3696-3C6AA9C7A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78FB44-370A-E5D1-228F-9A7E8CB83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保留一个架构设计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B9563-092E-4EF2-3756-6B0D28E66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795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 </a:t>
            </a:r>
            <a:r>
              <a:rPr lang="zh-CN" altLang="en-US" dirty="0"/>
              <a:t>精修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044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确定一下这边的</a:t>
            </a:r>
            <a:r>
              <a:rPr lang="en-US" altLang="zh-CN" dirty="0"/>
              <a:t>search rules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218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r>
              <a:rPr lang="zh-CN" altLang="en-US" dirty="0"/>
              <a:t>，放</a:t>
            </a:r>
            <a:r>
              <a:rPr lang="en-US" altLang="zh-CN" dirty="0" err="1"/>
              <a:t>search_rules</a:t>
            </a:r>
            <a:r>
              <a:rPr lang="zh-CN" altLang="en-US" dirty="0"/>
              <a:t>和</a:t>
            </a:r>
            <a:r>
              <a:rPr lang="en-US" altLang="zh-CN" dirty="0" err="1"/>
              <a:t>smell_rules</a:t>
            </a:r>
            <a:endParaRPr lang="en-US" altLang="zh-CN" dirty="0"/>
          </a:p>
          <a:p>
            <a:r>
              <a:rPr lang="zh-CN" altLang="en-US" dirty="0"/>
              <a:t>以及上面四层的精修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737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EF139-3A40-4F43-B73F-4FFD00A72C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87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92000" y="-828"/>
            <a:ext cx="5000000" cy="6858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1400000"/>
            <a:ext cx="70000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 dirty="0" err="1"/>
              <a:t>RepoFlow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44000" y="2319968"/>
            <a:ext cx="70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FFDDDD"/>
                </a:solidFill>
                <a:latin typeface="Microsoft YaHei"/>
              </a:defRPr>
            </a:pPr>
            <a:r>
              <a:rPr lang="en-US" altLang="zh-CN" b="1" dirty="0"/>
              <a:t>——</a:t>
            </a:r>
            <a:r>
              <a:rPr b="1" dirty="0" err="1"/>
              <a:t>面向</a:t>
            </a:r>
            <a:r>
              <a:rPr b="1" dirty="0"/>
              <a:t> Coding Agent </a:t>
            </a:r>
            <a:r>
              <a:rPr b="1" dirty="0" err="1"/>
              <a:t>的协作纪律与代码健康评测</a:t>
            </a:r>
            <a:endParaRPr b="1" dirty="0"/>
          </a:p>
        </p:txBody>
      </p:sp>
      <p:sp>
        <p:nvSpPr>
          <p:cNvPr id="7" name="Rectangle 6"/>
          <p:cNvSpPr/>
          <p:nvPr/>
        </p:nvSpPr>
        <p:spPr>
          <a:xfrm>
            <a:off x="800000" y="3600000"/>
            <a:ext cx="2400000" cy="25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000" y="3800000"/>
            <a:ext cx="6000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DDDD"/>
                </a:solidFill>
                <a:latin typeface="Microsoft YaHei"/>
              </a:defRPr>
            </a:pPr>
            <a:r>
              <a:rPr dirty="0" err="1"/>
              <a:t>大语言模型与信息决策</a:t>
            </a:r>
            <a:r>
              <a:rPr dirty="0"/>
              <a:t> · </a:t>
            </a:r>
            <a:r>
              <a:rPr dirty="0" err="1"/>
              <a:t>课程项目汇报</a:t>
            </a:r>
            <a:endParaRPr dirty="0"/>
          </a:p>
          <a:p>
            <a:pPr>
              <a:spcAft>
                <a:spcPts val="3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300"/>
              </a:spcAft>
              <a:defRPr sz="1300" b="0">
                <a:solidFill>
                  <a:srgbClr val="FFCCCC"/>
                </a:solidFill>
                <a:latin typeface="Microsoft YaHei"/>
              </a:defRPr>
            </a:pPr>
            <a:r>
              <a:rPr dirty="0"/>
              <a:t>2026 年 6 月</a:t>
            </a:r>
            <a:endParaRPr lang="en-US" dirty="0"/>
          </a:p>
          <a:p>
            <a:pPr>
              <a:spcAft>
                <a:spcPts val="300"/>
              </a:spcAft>
              <a:defRPr sz="1300" b="0">
                <a:solidFill>
                  <a:srgbClr val="FFCCCC"/>
                </a:solidFill>
                <a:latin typeface="Microsoft YaHei"/>
              </a:defRPr>
            </a:pPr>
            <a:endParaRPr lang="en-AE" dirty="0"/>
          </a:p>
          <a:p>
            <a:pPr>
              <a:spcAft>
                <a:spcPts val="300"/>
              </a:spcAft>
              <a:defRPr sz="1300" b="0">
                <a:solidFill>
                  <a:srgbClr val="FFCCCC"/>
                </a:solidFill>
                <a:latin typeface="Microsoft YaHei"/>
              </a:defRPr>
            </a:pPr>
            <a:r>
              <a:rPr lang="zh-CN" altLang="en-US" sz="2400" b="1" dirty="0">
                <a:latin typeface="+mn-ea"/>
              </a:rPr>
              <a:t>骆春阳 陈奕好</a:t>
            </a:r>
            <a:endParaRPr sz="2400" b="1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36000" y="2654000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rPr dirty="0"/>
              <a:t>📋  </a:t>
            </a:r>
            <a:r>
              <a:rPr dirty="0" err="1"/>
              <a:t>BoardFlow</a:t>
            </a:r>
            <a:r>
              <a:rPr dirty="0"/>
              <a:t> </a:t>
            </a:r>
            <a:r>
              <a:rPr dirty="0" err="1"/>
              <a:t>协议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044000" y="3128849"/>
            <a:ext cx="3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DDDD"/>
                </a:solidFill>
                <a:latin typeface="Microsoft YaHei"/>
              </a:defRPr>
            </a:pPr>
            <a:r>
              <a:rPr sz="2000" dirty="0" err="1"/>
              <a:t>任务看板驱动</a:t>
            </a:r>
            <a:endParaRPr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880000" y="3689936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rPr dirty="0"/>
              <a:t>🔗  Agent 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0" y="4100000"/>
            <a:ext cx="3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DDDD"/>
                </a:solidFill>
                <a:latin typeface="Microsoft YaHei"/>
              </a:defRPr>
            </a:pPr>
            <a:r>
              <a:rPr sz="2000" dirty="0" err="1"/>
              <a:t>智能交接机制</a:t>
            </a:r>
            <a:endParaRPr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7920000" y="4755345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rPr dirty="0"/>
              <a:t>🔍  Code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000" y="5108000"/>
            <a:ext cx="3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DDDD"/>
                </a:solidFill>
                <a:latin typeface="Microsoft YaHei"/>
              </a:defRPr>
            </a:pPr>
            <a:r>
              <a:rPr sz="2000" dirty="0" err="1"/>
              <a:t>代码健康审查</a:t>
            </a:r>
            <a:endParaRPr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8044000" y="1554592"/>
            <a:ext cx="4000000" cy="35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800" b="1">
                <a:solidFill>
                  <a:srgbClr val="C49A2A"/>
                </a:solidFill>
                <a:latin typeface="Microsoft YaHei"/>
              </a:defRPr>
            </a:pPr>
            <a:r>
              <a:rPr dirty="0"/>
              <a:t>📊  </a:t>
            </a:r>
            <a:r>
              <a:rPr lang="zh-CN" altLang="zh-CN" b="1" dirty="0"/>
              <a:t>Project scaffolding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960000" y="2084032"/>
            <a:ext cx="3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DDDD"/>
                </a:solidFill>
                <a:latin typeface="Microsoft YaHei"/>
              </a:defRPr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coding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6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1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0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0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0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4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9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9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8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8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3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80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28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76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4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720000" y="100000"/>
            <a:ext cx="80000" cy="8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72830" y="41500"/>
            <a:ext cx="19155554" cy="10633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0000" y="300000"/>
            <a:ext cx="500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8B0000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1050000"/>
            <a:ext cx="1500000" cy="25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0000" y="15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1453500"/>
            <a:ext cx="4800000" cy="675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选题背景与研究动机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50000" y="18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Why </a:t>
            </a:r>
            <a:r>
              <a:rPr lang="en-US" altLang="zh-CN" dirty="0" err="1"/>
              <a:t>RepoFlow</a:t>
            </a:r>
            <a:r>
              <a:rPr dirty="0"/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3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000" y="2261500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问题设定与核心挑战</a:t>
            </a:r>
            <a:endParaRPr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1150000" y="26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Problem Formulation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31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000" y="3076000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系统架构设计</a:t>
            </a:r>
            <a:endParaRPr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1150000" y="34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System Architecture — </a:t>
            </a:r>
            <a:r>
              <a:rPr dirty="0" err="1"/>
              <a:t>流程图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00000" y="39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0000" y="4627192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lang="en-US" sz="2000" dirty="0"/>
              <a:t> </a:t>
            </a:r>
            <a:r>
              <a:rPr lang="en-US" altLang="zh-CN" sz="2000" dirty="0" err="1"/>
              <a:t>TaskBoard</a:t>
            </a:r>
            <a:r>
              <a:rPr lang="en-US" altLang="zh-CN" sz="2000" dirty="0"/>
              <a:t> &amp; </a:t>
            </a:r>
            <a:r>
              <a:rPr sz="2000" dirty="0"/>
              <a:t>Agent </a:t>
            </a:r>
            <a:r>
              <a:rPr sz="2000" dirty="0" err="1"/>
              <a:t>交接流程</a:t>
            </a:r>
            <a:endParaRPr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1150000" y="5057346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Handoff Flow — </a:t>
            </a:r>
            <a:r>
              <a:rPr dirty="0" err="1"/>
              <a:t>看板驱动协作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500000" y="47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000" y="5362000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代码健康审查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自适应规则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96000" y="5719334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Code Health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5500000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0000" y="3827192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coding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28701" y="4177019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lang="zh-CN" altLang="zh-CN" dirty="0"/>
              <a:t>Project scaffolding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6950000" y="3420000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6300000" y="1407676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rPr lang="en-US" dirty="0"/>
              <a:t>07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6950000" y="1308000"/>
            <a:ext cx="3577738" cy="3896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层面的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Reviewer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950000" y="1646000"/>
            <a:ext cx="2088804" cy="2166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使用现有的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作为架构补充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00000" y="2751993"/>
            <a:ext cx="550000" cy="7930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rPr lang="en-US" dirty="0"/>
              <a:t>09</a:t>
            </a: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6950000" y="2746596"/>
            <a:ext cx="48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sz="2000" dirty="0" err="1"/>
              <a:t>总结与展望</a:t>
            </a:r>
            <a:endParaRPr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6950000" y="3148064"/>
            <a:ext cx="4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Summary &amp; Future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2 / 15</a:t>
            </a:r>
          </a:p>
        </p:txBody>
      </p:sp>
      <p:sp>
        <p:nvSpPr>
          <p:cNvPr id="25" name="TextBox 36">
            <a:extLst>
              <a:ext uri="{FF2B5EF4-FFF2-40B4-BE49-F238E27FC236}">
                <a16:creationId xmlns:a16="http://schemas.microsoft.com/office/drawing/2014/main" id="{3301E644-76E9-8755-D09D-04CC7CE74999}"/>
              </a:ext>
            </a:extLst>
          </p:cNvPr>
          <p:cNvSpPr txBox="1"/>
          <p:nvPr/>
        </p:nvSpPr>
        <p:spPr>
          <a:xfrm>
            <a:off x="6300000" y="2063804"/>
            <a:ext cx="55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rPr lang="en-US" dirty="0"/>
              <a:t>08</a:t>
            </a:r>
            <a:endParaRPr dirty="0"/>
          </a:p>
        </p:txBody>
      </p:sp>
      <p:sp>
        <p:nvSpPr>
          <p:cNvPr id="26" name="TextBox 37">
            <a:extLst>
              <a:ext uri="{FF2B5EF4-FFF2-40B4-BE49-F238E27FC236}">
                <a16:creationId xmlns:a16="http://schemas.microsoft.com/office/drawing/2014/main" id="{AFA239DF-8507-3704-B972-413D3775084B}"/>
              </a:ext>
            </a:extLst>
          </p:cNvPr>
          <p:cNvSpPr txBox="1"/>
          <p:nvPr/>
        </p:nvSpPr>
        <p:spPr>
          <a:xfrm>
            <a:off x="6950000" y="1964128"/>
            <a:ext cx="1999791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实验演示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38">
            <a:extLst>
              <a:ext uri="{FF2B5EF4-FFF2-40B4-BE49-F238E27FC236}">
                <a16:creationId xmlns:a16="http://schemas.microsoft.com/office/drawing/2014/main" id="{7E5038D6-1761-0886-DA81-125C65D44E23}"/>
              </a:ext>
            </a:extLst>
          </p:cNvPr>
          <p:cNvSpPr txBox="1"/>
          <p:nvPr/>
        </p:nvSpPr>
        <p:spPr>
          <a:xfrm>
            <a:off x="6950000" y="2302128"/>
            <a:ext cx="1708478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Experiment &amp;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rPr dirty="0" err="1"/>
              <a:t>选题背景与研究动机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12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Why BoardFlowBench?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" y="1200000"/>
            <a:ext cx="72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8B0000"/>
                </a:solidFill>
                <a:latin typeface="Microsoft YaHei"/>
              </a:defRPr>
            </a:pP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3 / 15</a:t>
            </a:r>
          </a:p>
        </p:txBody>
      </p:sp>
      <p:pic>
        <p:nvPicPr>
          <p:cNvPr id="21" name="图形 20" descr="头上的大脑 纯色填充">
            <a:extLst>
              <a:ext uri="{FF2B5EF4-FFF2-40B4-BE49-F238E27FC236}">
                <a16:creationId xmlns:a16="http://schemas.microsoft.com/office/drawing/2014/main" id="{A859A09C-4D07-BDCE-68D9-ABEDE2EA0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6123" y="977402"/>
            <a:ext cx="1280326" cy="128032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C73ADE0-67F6-BE5B-2FA7-85BD13905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969" y="1353888"/>
            <a:ext cx="950061" cy="926603"/>
          </a:xfrm>
          <a:prstGeom prst="rect">
            <a:avLst/>
          </a:prstGeom>
        </p:spPr>
      </p:pic>
      <p:pic>
        <p:nvPicPr>
          <p:cNvPr id="25" name="图形 24" descr="连接 纯色填充">
            <a:extLst>
              <a:ext uri="{FF2B5EF4-FFF2-40B4-BE49-F238E27FC236}">
                <a16:creationId xmlns:a16="http://schemas.microsoft.com/office/drawing/2014/main" id="{58F16C66-F118-8A08-4B55-D04BA268B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2776" y="2600664"/>
            <a:ext cx="1947465" cy="1947465"/>
          </a:xfrm>
          <a:prstGeom prst="rect">
            <a:avLst/>
          </a:prstGeom>
        </p:spPr>
      </p:pic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12BB4EB-6C2C-7883-E229-5D2697490BFC}"/>
              </a:ext>
            </a:extLst>
          </p:cNvPr>
          <p:cNvSpPr/>
          <p:nvPr/>
        </p:nvSpPr>
        <p:spPr>
          <a:xfrm>
            <a:off x="560000" y="1300000"/>
            <a:ext cx="4808159" cy="115405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大模型驱动的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Coding Agent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浪潮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4D0D9E2-B8FA-671B-3FDE-D15D4DC94E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289" y="1284291"/>
            <a:ext cx="1027306" cy="1016259"/>
          </a:xfrm>
          <a:prstGeom prst="rect">
            <a:avLst/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C53231F-7C0F-C18E-D6C3-F5C6427B95ED}"/>
              </a:ext>
            </a:extLst>
          </p:cNvPr>
          <p:cNvSpPr/>
          <p:nvPr/>
        </p:nvSpPr>
        <p:spPr>
          <a:xfrm>
            <a:off x="560000" y="3049871"/>
            <a:ext cx="4808159" cy="115405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顺序协作的信息传递问题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886D05C0-DB6E-4685-99D4-FD80DF7739D7}"/>
              </a:ext>
            </a:extLst>
          </p:cNvPr>
          <p:cNvSpPr/>
          <p:nvPr/>
        </p:nvSpPr>
        <p:spPr>
          <a:xfrm>
            <a:off x="559999" y="4858006"/>
            <a:ext cx="4808159" cy="115405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Coding Agent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的不可控性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E710E81-7214-C48F-CC06-D948EADE20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834" y="1300931"/>
            <a:ext cx="1078651" cy="1021496"/>
          </a:xfrm>
          <a:prstGeom prst="rect">
            <a:avLst/>
          </a:prstGeom>
        </p:spPr>
      </p:pic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7B2F5A40-3C19-5902-590A-AD7DD5CAA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735150"/>
              </p:ext>
            </p:extLst>
          </p:nvPr>
        </p:nvGraphicFramePr>
        <p:xfrm>
          <a:off x="5870084" y="2811567"/>
          <a:ext cx="3005902" cy="182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5902">
                  <a:extLst>
                    <a:ext uri="{9D8B030D-6E8A-4147-A177-3AD203B41FA5}">
                      <a16:colId xmlns:a16="http://schemas.microsoft.com/office/drawing/2014/main" val="3141204505"/>
                    </a:ext>
                  </a:extLst>
                </a:gridCol>
              </a:tblGrid>
              <a:tr h="457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上下文丢失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552342"/>
                  </a:ext>
                </a:extLst>
              </a:tr>
              <a:tr h="457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重复性工作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714255"/>
                  </a:ext>
                </a:extLst>
              </a:tr>
              <a:tr h="457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边界模糊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561018"/>
                  </a:ext>
                </a:extLst>
              </a:tr>
              <a:tr h="457141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任务交接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435482"/>
                  </a:ext>
                </a:extLst>
              </a:tr>
            </a:tbl>
          </a:graphicData>
        </a:graphic>
      </p:graphicFrame>
      <p:pic>
        <p:nvPicPr>
          <p:cNvPr id="39" name="图形 38" descr="聊天气泡 纯色填充">
            <a:extLst>
              <a:ext uri="{FF2B5EF4-FFF2-40B4-BE49-F238E27FC236}">
                <a16:creationId xmlns:a16="http://schemas.microsoft.com/office/drawing/2014/main" id="{892D685E-C5C9-A87E-4CEB-2681215E32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6270" y="4672011"/>
            <a:ext cx="914400" cy="914400"/>
          </a:xfrm>
          <a:prstGeom prst="rect">
            <a:avLst/>
          </a:prstGeom>
        </p:spPr>
      </p:pic>
      <p:pic>
        <p:nvPicPr>
          <p:cNvPr id="41" name="图形 40" descr="机器人 纯色填充">
            <a:extLst>
              <a:ext uri="{FF2B5EF4-FFF2-40B4-BE49-F238E27FC236}">
                <a16:creationId xmlns:a16="http://schemas.microsoft.com/office/drawing/2014/main" id="{961A5483-6006-132D-266E-46FB7491A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41120" y="5346200"/>
            <a:ext cx="914400" cy="914400"/>
          </a:xfrm>
          <a:prstGeom prst="rect">
            <a:avLst/>
          </a:prstGeom>
        </p:spPr>
      </p:pic>
      <p:pic>
        <p:nvPicPr>
          <p:cNvPr id="43" name="图形 42" descr="用户 纯色填充">
            <a:extLst>
              <a:ext uri="{FF2B5EF4-FFF2-40B4-BE49-F238E27FC236}">
                <a16:creationId xmlns:a16="http://schemas.microsoft.com/office/drawing/2014/main" id="{E45CEF9C-6A29-CA5A-13BE-EFD8043620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8157" y="5297450"/>
            <a:ext cx="914400" cy="914400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CC94942-66FF-0AE7-D55C-1AA29193520A}"/>
              </a:ext>
            </a:extLst>
          </p:cNvPr>
          <p:cNvSpPr/>
          <p:nvPr/>
        </p:nvSpPr>
        <p:spPr>
          <a:xfrm>
            <a:off x="6842557" y="5414520"/>
            <a:ext cx="2455976" cy="9144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30C9CA7-D28C-9DF2-F99E-5E0C85174AEF}"/>
              </a:ext>
            </a:extLst>
          </p:cNvPr>
          <p:cNvSpPr txBox="1"/>
          <p:nvPr/>
        </p:nvSpPr>
        <p:spPr>
          <a:xfrm>
            <a:off x="6893470" y="5551837"/>
            <a:ext cx="240506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写一个搜索树算法</a:t>
            </a:r>
            <a:endParaRPr lang="en-US" altLang="zh-CN" sz="11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加上</a:t>
            </a:r>
            <a:r>
              <a:rPr lang="en-US" altLang="zh-CN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cost</a:t>
            </a:r>
            <a:r>
              <a:rPr lang="zh-CN" altLang="en-US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endParaRPr lang="en-US" altLang="zh-CN" sz="11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1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通过人为参数设置单次搜索深度</a:t>
            </a:r>
            <a:endParaRPr lang="en-US" altLang="zh-CN" sz="11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图形 47" descr="语音 纯色填充">
            <a:extLst>
              <a:ext uri="{FF2B5EF4-FFF2-40B4-BE49-F238E27FC236}">
                <a16:creationId xmlns:a16="http://schemas.microsoft.com/office/drawing/2014/main" id="{B1BBAF10-C16C-DEF2-14C7-FB3A1EB25C3F}"/>
              </a:ext>
            </a:extLst>
          </p:cNvPr>
          <p:cNvSpPr/>
          <p:nvPr/>
        </p:nvSpPr>
        <p:spPr>
          <a:xfrm flipH="1">
            <a:off x="10198550" y="4597509"/>
            <a:ext cx="1605878" cy="1265992"/>
          </a:xfrm>
          <a:custGeom>
            <a:avLst/>
            <a:gdLst>
              <a:gd name="csX0" fmla="*/ 615315 w 647700"/>
              <a:gd name="csY0" fmla="*/ 0 h 590550"/>
              <a:gd name="csX1" fmla="*/ 32385 w 647700"/>
              <a:gd name="csY1" fmla="*/ 0 h 590550"/>
              <a:gd name="csX2" fmla="*/ 0 w 647700"/>
              <a:gd name="csY2" fmla="*/ 32385 h 590550"/>
              <a:gd name="csX3" fmla="*/ 0 w 647700"/>
              <a:gd name="csY3" fmla="*/ 425768 h 590550"/>
              <a:gd name="csX4" fmla="*/ 32385 w 647700"/>
              <a:gd name="csY4" fmla="*/ 458153 h 590550"/>
              <a:gd name="csX5" fmla="*/ 388620 w 647700"/>
              <a:gd name="csY5" fmla="*/ 458153 h 590550"/>
              <a:gd name="csX6" fmla="*/ 518160 w 647700"/>
              <a:gd name="csY6" fmla="*/ 590550 h 590550"/>
              <a:gd name="csX7" fmla="*/ 518160 w 647700"/>
              <a:gd name="csY7" fmla="*/ 459105 h 590550"/>
              <a:gd name="csX8" fmla="*/ 615315 w 647700"/>
              <a:gd name="csY8" fmla="*/ 459105 h 590550"/>
              <a:gd name="csX9" fmla="*/ 647700 w 647700"/>
              <a:gd name="csY9" fmla="*/ 426720 h 590550"/>
              <a:gd name="csX10" fmla="*/ 647700 w 647700"/>
              <a:gd name="csY10" fmla="*/ 33338 h 590550"/>
              <a:gd name="csX11" fmla="*/ 615315 w 647700"/>
              <a:gd name="csY11" fmla="*/ 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47700" h="590550">
                <a:moveTo>
                  <a:pt x="615315" y="0"/>
                </a:moveTo>
                <a:lnTo>
                  <a:pt x="32385" y="0"/>
                </a:lnTo>
                <a:cubicBezTo>
                  <a:pt x="14288" y="0"/>
                  <a:pt x="0" y="15240"/>
                  <a:pt x="0" y="32385"/>
                </a:cubicBezTo>
                <a:lnTo>
                  <a:pt x="0" y="425768"/>
                </a:lnTo>
                <a:cubicBezTo>
                  <a:pt x="0" y="443865"/>
                  <a:pt x="14288" y="458153"/>
                  <a:pt x="32385" y="458153"/>
                </a:cubicBezTo>
                <a:lnTo>
                  <a:pt x="388620" y="458153"/>
                </a:lnTo>
                <a:lnTo>
                  <a:pt x="518160" y="590550"/>
                </a:lnTo>
                <a:lnTo>
                  <a:pt x="518160" y="459105"/>
                </a:lnTo>
                <a:lnTo>
                  <a:pt x="615315" y="459105"/>
                </a:lnTo>
                <a:cubicBezTo>
                  <a:pt x="633413" y="459105"/>
                  <a:pt x="647700" y="443865"/>
                  <a:pt x="647700" y="426720"/>
                </a:cubicBezTo>
                <a:lnTo>
                  <a:pt x="647700" y="33338"/>
                </a:lnTo>
                <a:cubicBezTo>
                  <a:pt x="647700" y="15240"/>
                  <a:pt x="633413" y="0"/>
                  <a:pt x="615315" y="0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pPr marL="342900" indent="-342900">
              <a:buAutoNum type="arabicPeriod"/>
            </a:pP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复杂命名</a:t>
            </a:r>
            <a:endParaRPr lang="en-US" altLang="zh-CN" sz="1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Fixed, safe</a:t>
            </a:r>
          </a:p>
          <a:p>
            <a:pPr marL="342900" indent="-342900">
              <a:buAutoNum type="arabicPeriod"/>
            </a:pP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Default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兜底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-4000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问题设定与核心挑战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Problem Formulation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000" y="1300000"/>
            <a:ext cx="36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0000" y="1300000"/>
            <a:ext cx="3600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000" y="146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000" y="1860000"/>
            <a:ext cx="36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8B0000"/>
                </a:solidFill>
                <a:latin typeface="Microsoft YaHei"/>
              </a:defRPr>
            </a:pPr>
            <a:r>
              <a:rPr dirty="0" err="1"/>
              <a:t>上下文断裂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20000" y="2300000"/>
            <a:ext cx="3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  ✦ Agent </a:t>
            </a:r>
            <a:r>
              <a:rPr dirty="0" err="1"/>
              <a:t>间无共享记忆</a:t>
            </a:r>
            <a:endParaRPr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  ✦ </a:t>
            </a:r>
            <a:r>
              <a:rPr dirty="0" err="1"/>
              <a:t>聊天记录不可靠传递</a:t>
            </a:r>
            <a:endParaRPr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  ✦ </a:t>
            </a:r>
            <a:r>
              <a:rPr dirty="0" err="1"/>
              <a:t>关键决策信息丢失</a:t>
            </a:r>
            <a:endParaRPr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/>
              <a:t>  ✦ </a:t>
            </a:r>
            <a:r>
              <a:rPr dirty="0" err="1"/>
              <a:t>后续</a:t>
            </a:r>
            <a:r>
              <a:rPr dirty="0"/>
              <a:t> Agent "</a:t>
            </a:r>
            <a:r>
              <a:rPr dirty="0" err="1"/>
              <a:t>盲目"工作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4270000" y="1300000"/>
            <a:ext cx="36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000" y="1300000"/>
            <a:ext cx="3600000" cy="6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0000" y="146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000" y="1860000"/>
            <a:ext cx="36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E46A1F"/>
                </a:solidFill>
                <a:latin typeface="Microsoft YaHei"/>
              </a:defRPr>
            </a:pPr>
            <a:r>
              <a:t>过程不可见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0000" y="2300000"/>
            <a:ext cx="3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缺乏结构化任务看板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任务状态无法追踪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修改范围没有边界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验收标准不明确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70000" y="1300000"/>
            <a:ext cx="3600000" cy="2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70000" y="1300000"/>
            <a:ext cx="3600000" cy="6000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0000" y="1460000"/>
            <a:ext cx="36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0">
                <a:solidFill>
                  <a:srgbClr val="333333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0000" y="1860000"/>
            <a:ext cx="36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D7C7C"/>
                </a:solidFill>
                <a:latin typeface="Microsoft YaHei"/>
              </a:defRPr>
            </a:pPr>
            <a:r>
              <a:t>质量难量化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000" y="2300000"/>
            <a:ext cx="31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代码风格是否一致？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是否引入技术债务？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patch 命名是否规范？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✦ 文件结构是否合理？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000" y="3799999"/>
            <a:ext cx="11400000" cy="1198001"/>
          </a:xfrm>
          <a:prstGeom prst="rect">
            <a:avLst/>
          </a:prstGeom>
          <a:solidFill>
            <a:srgbClr val="FDF0EA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0000" y="3850000"/>
            <a:ext cx="1100000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8B0000"/>
                </a:solidFill>
                <a:latin typeface="Microsoft YaHei"/>
              </a:defRPr>
            </a:pPr>
            <a:r>
              <a:rPr dirty="0"/>
              <a:t>🎯  </a:t>
            </a:r>
            <a:r>
              <a:rPr dirty="0" err="1"/>
              <a:t>核心研究问题</a:t>
            </a:r>
            <a:endParaRPr dirty="0"/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sz="1600" dirty="0" err="1"/>
              <a:t>如何设计一套基于仓库本地共享状态（</a:t>
            </a:r>
            <a:r>
              <a:rPr lang="en-US" sz="1600" b="1" dirty="0" err="1"/>
              <a:t>repo-local</a:t>
            </a:r>
            <a:r>
              <a:rPr lang="en-US" sz="1600" b="1" dirty="0"/>
              <a:t> shared </a:t>
            </a:r>
            <a:r>
              <a:rPr lang="en-US" sz="1600" b="1" dirty="0" err="1"/>
              <a:t>state</a:t>
            </a:r>
            <a:r>
              <a:rPr sz="1600" dirty="0" err="1"/>
              <a:t>）的协议与评测框架</a:t>
            </a:r>
            <a:r>
              <a:rPr sz="1600" dirty="0"/>
              <a:t>，</a:t>
            </a:r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rPr sz="1600" dirty="0"/>
              <a:t>使 Coding Agent </a:t>
            </a:r>
            <a:r>
              <a:rPr sz="1600" dirty="0" err="1"/>
              <a:t>在顺序协作中能够可靠传递上下文、控制修改范围、保持代码健康</a:t>
            </a:r>
            <a:r>
              <a:rPr sz="1600" dirty="0"/>
              <a:t>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933E9-298F-6AAC-6E82-F1209725F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F8B53E-D860-E1C4-556B-6CC6F7887EF2}"/>
              </a:ext>
            </a:extLst>
          </p:cNvPr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9D9A15-DBBC-E99F-0983-4D1EDCDADBFE}"/>
              </a:ext>
            </a:extLst>
          </p:cNvPr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E1497-F1BF-3EA2-9970-83DBBC2D359C}"/>
              </a:ext>
            </a:extLst>
          </p:cNvPr>
          <p:cNvSpPr/>
          <p:nvPr/>
        </p:nvSpPr>
        <p:spPr>
          <a:xfrm>
            <a:off x="0" y="-5900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0F5B8-55E2-73A7-3DAD-83AD0DBD329C}"/>
              </a:ext>
            </a:extLst>
          </p:cNvPr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D2304-B94B-7B2C-DC46-CE587780CF68}"/>
              </a:ext>
            </a:extLst>
          </p:cNvPr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35E28D-EA7E-1556-92E6-FB561A417289}"/>
              </a:ext>
            </a:extLst>
          </p:cNvPr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CDA80C-4CAF-8CDC-B579-E7184D02DB42}"/>
              </a:ext>
            </a:extLst>
          </p:cNvPr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F42971-5030-A44A-17BB-F489B50BEDA9}"/>
              </a:ext>
            </a:extLst>
          </p:cNvPr>
          <p:cNvSpPr txBox="1"/>
          <p:nvPr/>
        </p:nvSpPr>
        <p:spPr>
          <a:xfrm>
            <a:off x="8828941" y="2261542"/>
            <a:ext cx="3497438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8B0000"/>
                </a:solidFill>
                <a:latin typeface="Microsoft YaHei"/>
              </a:defRPr>
            </a:pPr>
            <a:r>
              <a:rPr sz="2000" dirty="0"/>
              <a:t>▎</a:t>
            </a:r>
            <a:r>
              <a:rPr sz="2000" dirty="0" err="1"/>
              <a:t>核心设计理念</a:t>
            </a:r>
            <a:endParaRPr sz="2000"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sz="1200" b="1" dirty="0"/>
              <a:t>  </a:t>
            </a:r>
            <a:r>
              <a:rPr sz="1600" b="1" dirty="0"/>
              <a:t>• </a:t>
            </a:r>
            <a:r>
              <a:rPr sz="1600" b="1" dirty="0" err="1"/>
              <a:t>状态即真理（State</a:t>
            </a:r>
            <a:r>
              <a:rPr sz="1600" b="1" dirty="0"/>
              <a:t> as Truth）：</a:t>
            </a:r>
            <a:endParaRPr lang="en-US" sz="1600" b="1"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sz="1600" b="1" dirty="0" err="1"/>
              <a:t>仓库本地文件是唯一来源</a:t>
            </a:r>
            <a:endParaRPr sz="1600" b="1"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 sz="1600" b="1" dirty="0"/>
              <a:t>• Agent Bridge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过程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·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 Health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" · 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en-US" altLang="zh-CN" sz="1600" b="1" dirty="0"/>
              <a:t>•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适应规则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(Human-Interaction)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根据用户需求及时调整代码风格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和检测规则。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endParaRPr lang="zh-CN" altLang="en-US" sz="1600" b="1"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endParaRPr lang="en-US" sz="1600" b="1" dirty="0"/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endParaRPr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9FEACD-01C7-891F-7359-179E34099F4C}"/>
              </a:ext>
            </a:extLst>
          </p:cNvPr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5 / 15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1C462EE-3866-B78A-EED6-CF41D0A96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05" y="930104"/>
            <a:ext cx="8294336" cy="586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0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FD985-9A19-0680-2E36-4E1A2839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00886F-C9D8-4954-6C01-409AF5796F8C}"/>
              </a:ext>
            </a:extLst>
          </p:cNvPr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45DB1C-2843-E726-E968-26DCF367E714}"/>
              </a:ext>
            </a:extLst>
          </p:cNvPr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53BD8D-2B07-F5D9-DDCD-1B1D2DA10A97}"/>
              </a:ext>
            </a:extLst>
          </p:cNvPr>
          <p:cNvSpPr/>
          <p:nvPr/>
        </p:nvSpPr>
        <p:spPr>
          <a:xfrm>
            <a:off x="0" y="-5900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761EC0-A44B-492E-1A40-A5D97F54C18E}"/>
              </a:ext>
            </a:extLst>
          </p:cNvPr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81585-1433-96D7-3F26-9C89E6560E98}"/>
              </a:ext>
            </a:extLst>
          </p:cNvPr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6538B-795D-8C28-4683-A4BE7320A907}"/>
              </a:ext>
            </a:extLst>
          </p:cNvPr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745A2-C6CC-947C-8224-CA95421462B0}"/>
              </a:ext>
            </a:extLst>
          </p:cNvPr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DFF9E4-30FB-7AE1-E684-43C570F63CE8}"/>
              </a:ext>
            </a:extLst>
          </p:cNvPr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5 / 15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1CBB15-FE70-D9A5-4F2F-F79945BD1A7D}"/>
              </a:ext>
            </a:extLst>
          </p:cNvPr>
          <p:cNvSpPr txBox="1"/>
          <p:nvPr/>
        </p:nvSpPr>
        <p:spPr>
          <a:xfrm>
            <a:off x="560000" y="1250000"/>
            <a:ext cx="10495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规范化 coding scaffold = 把 agent 写代码从“自由聊天式开发”变成“有任务板、有边界、有交接、有验收证据”的标准工作区结构。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3414F2-9B37-9A05-D187-C80621305578}"/>
              </a:ext>
            </a:extLst>
          </p:cNvPr>
          <p:cNvSpPr txBox="1"/>
          <p:nvPr/>
        </p:nvSpPr>
        <p:spPr>
          <a:xfrm>
            <a:off x="1460000" y="2060304"/>
            <a:ext cx="816936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600" dirty="0"/>
              <a:t>repo/</a:t>
            </a:r>
          </a:p>
          <a:p>
            <a:r>
              <a:rPr kumimoji="1" lang="en" altLang="zh-CN" sz="1600" dirty="0"/>
              <a:t>├── </a:t>
            </a:r>
            <a:r>
              <a:rPr kumimoji="1" lang="en" altLang="zh-CN" sz="1600" dirty="0" err="1"/>
              <a:t>AGENTS.md</a:t>
            </a:r>
            <a:r>
              <a:rPr kumimoji="1" lang="en" altLang="zh-CN" sz="1600" dirty="0"/>
              <a:t>                 # agent </a:t>
            </a:r>
            <a:r>
              <a:rPr kumimoji="1" lang="zh-CN" altLang="en-US" sz="1600" dirty="0"/>
              <a:t>入口说明：先读什么、怎么开始、怎么结束</a:t>
            </a:r>
          </a:p>
          <a:p>
            <a:r>
              <a:rPr kumimoji="1" lang="zh-CN" altLang="en-US" sz="1600" dirty="0"/>
              <a:t>├── </a:t>
            </a:r>
            <a:r>
              <a:rPr kumimoji="1" lang="en" altLang="zh-CN" sz="1600" dirty="0" err="1"/>
              <a:t>AI_CONTRACT.md</a:t>
            </a:r>
            <a:r>
              <a:rPr kumimoji="1" lang="en" altLang="zh-CN" sz="1600" dirty="0"/>
              <a:t>            # coding </a:t>
            </a:r>
            <a:r>
              <a:rPr kumimoji="1" lang="zh-CN" altLang="en-US" sz="1600" dirty="0"/>
              <a:t>合约：不能越界、不能忽略 </a:t>
            </a:r>
            <a:r>
              <a:rPr kumimoji="1" lang="en" altLang="zh-CN" sz="1600" dirty="0"/>
              <a:t>dirty tree</a:t>
            </a:r>
            <a:r>
              <a:rPr kumimoji="1" lang="zh-CN" altLang="en" sz="1600" dirty="0"/>
              <a:t>、</a:t>
            </a:r>
            <a:r>
              <a:rPr kumimoji="1" lang="zh-CN" altLang="en-US" sz="1600" dirty="0"/>
              <a:t>不能跳过任务</a:t>
            </a:r>
          </a:p>
          <a:p>
            <a:r>
              <a:rPr kumimoji="1" lang="zh-CN" altLang="en-US" sz="1600" dirty="0"/>
              <a:t>├── </a:t>
            </a:r>
            <a:r>
              <a:rPr kumimoji="1" lang="en" altLang="zh-CN" sz="1600" dirty="0" err="1"/>
              <a:t>PROJECT_BOARD.md</a:t>
            </a:r>
            <a:r>
              <a:rPr kumimoji="1" lang="en" altLang="zh-CN" sz="1600" dirty="0"/>
              <a:t>          # </a:t>
            </a:r>
            <a:r>
              <a:rPr kumimoji="1" lang="zh-CN" altLang="en-US" sz="1600" dirty="0"/>
              <a:t>人类可读 </a:t>
            </a:r>
            <a:r>
              <a:rPr kumimoji="1" lang="en" altLang="zh-CN" sz="1600" dirty="0"/>
              <a:t>blackboard</a:t>
            </a:r>
          </a:p>
          <a:p>
            <a:r>
              <a:rPr kumimoji="1" lang="en" altLang="zh-CN" sz="1600" dirty="0"/>
              <a:t>├── .board/</a:t>
            </a:r>
          </a:p>
          <a:p>
            <a:r>
              <a:rPr kumimoji="1" lang="en" altLang="zh-CN" sz="1600" dirty="0"/>
              <a:t>│   ├── </a:t>
            </a:r>
            <a:r>
              <a:rPr kumimoji="1" lang="en" altLang="zh-CN" sz="1600" dirty="0" err="1"/>
              <a:t>tasks.yaml</a:t>
            </a:r>
            <a:r>
              <a:rPr kumimoji="1" lang="en" altLang="zh-CN" sz="1600" dirty="0"/>
              <a:t>            # </a:t>
            </a:r>
            <a:r>
              <a:rPr kumimoji="1" lang="zh-CN" altLang="en-US" sz="1600" dirty="0"/>
              <a:t>机器可读 </a:t>
            </a:r>
            <a:r>
              <a:rPr kumimoji="1" lang="en" altLang="zh-CN" sz="1600" dirty="0"/>
              <a:t>blackboard</a:t>
            </a:r>
            <a:r>
              <a:rPr kumimoji="1" lang="zh-CN" altLang="en" sz="1600" dirty="0"/>
              <a:t>，</a:t>
            </a:r>
            <a:r>
              <a:rPr kumimoji="1" lang="zh-CN" altLang="en-US" sz="1600" dirty="0"/>
              <a:t>和 </a:t>
            </a:r>
            <a:r>
              <a:rPr kumimoji="1" lang="en" altLang="zh-CN" sz="1600" dirty="0" err="1"/>
              <a:t>PROJECT_BOARD.md</a:t>
            </a:r>
            <a:r>
              <a:rPr kumimoji="1" lang="en" altLang="zh-CN" sz="1600" dirty="0"/>
              <a:t> </a:t>
            </a:r>
            <a:r>
              <a:rPr kumimoji="1" lang="zh-CN" altLang="en-US" sz="1600" dirty="0"/>
              <a:t>同步</a:t>
            </a:r>
          </a:p>
          <a:p>
            <a:r>
              <a:rPr kumimoji="1" lang="zh-CN" altLang="en-US" sz="1600" dirty="0"/>
              <a:t>│   ├── </a:t>
            </a:r>
            <a:r>
              <a:rPr kumimoji="1" lang="en" altLang="zh-CN" sz="1600" dirty="0" err="1"/>
              <a:t>assigned_task.yaml</a:t>
            </a:r>
            <a:r>
              <a:rPr kumimoji="1" lang="en" altLang="zh-CN" sz="1600" dirty="0"/>
              <a:t>    # </a:t>
            </a:r>
            <a:r>
              <a:rPr kumimoji="1" lang="zh-CN" altLang="en-US" sz="1600" dirty="0"/>
              <a:t>当前 </a:t>
            </a:r>
            <a:r>
              <a:rPr kumimoji="1" lang="en" altLang="zh-CN" sz="1600" dirty="0"/>
              <a:t>sticker</a:t>
            </a:r>
            <a:r>
              <a:rPr kumimoji="1" lang="zh-CN" altLang="en" sz="1600" dirty="0"/>
              <a:t>：</a:t>
            </a:r>
            <a:r>
              <a:rPr kumimoji="1" lang="zh-CN" altLang="en-US" sz="1600" dirty="0"/>
              <a:t>允许改哪些文件、验收命令、依赖</a:t>
            </a:r>
          </a:p>
          <a:p>
            <a:r>
              <a:rPr kumimoji="1" lang="zh-CN" altLang="en-US" sz="1600" dirty="0"/>
              <a:t>│   └── </a:t>
            </a:r>
            <a:r>
              <a:rPr kumimoji="1" lang="en" altLang="zh-CN" sz="1600" dirty="0"/>
              <a:t>handoffs/</a:t>
            </a:r>
          </a:p>
          <a:p>
            <a:r>
              <a:rPr kumimoji="1" lang="en" altLang="zh-CN" sz="1600" dirty="0"/>
              <a:t>│       └── B001_xxx.json     # agent </a:t>
            </a:r>
            <a:r>
              <a:rPr kumimoji="1" lang="zh-CN" altLang="en-US" sz="1600" dirty="0"/>
              <a:t>交接记录：做了什么、测了什么、风险是什么</a:t>
            </a:r>
          </a:p>
          <a:p>
            <a:r>
              <a:rPr kumimoji="1" lang="zh-CN" altLang="en-US" sz="1600" dirty="0"/>
              <a:t>├── </a:t>
            </a:r>
            <a:r>
              <a:rPr kumimoji="1" lang="en-US" altLang="zh-CN" sz="1600" dirty="0"/>
              <a:t>.</a:t>
            </a:r>
            <a:r>
              <a:rPr kumimoji="1" lang="en" altLang="zh-CN" sz="1600" dirty="0" err="1"/>
              <a:t>repo_manager</a:t>
            </a:r>
            <a:r>
              <a:rPr kumimoji="1" lang="en" altLang="zh-CN" sz="1600" dirty="0"/>
              <a:t>/</a:t>
            </a:r>
          </a:p>
          <a:p>
            <a:r>
              <a:rPr kumimoji="1" lang="en" altLang="zh-CN" sz="1600" dirty="0"/>
              <a:t>│   ├── </a:t>
            </a:r>
            <a:r>
              <a:rPr kumimoji="1" lang="en" altLang="zh-CN" sz="1600" dirty="0" err="1"/>
              <a:t>agent_context.md</a:t>
            </a:r>
            <a:r>
              <a:rPr kumimoji="1" lang="en" altLang="zh-CN" sz="1600" dirty="0"/>
              <a:t>      # </a:t>
            </a:r>
            <a:r>
              <a:rPr kumimoji="1" lang="zh-CN" altLang="en-US" sz="1600" dirty="0"/>
              <a:t>自动刷新：当前任务、</a:t>
            </a:r>
            <a:r>
              <a:rPr kumimoji="1" lang="en" altLang="zh-CN" sz="1600" dirty="0"/>
              <a:t>git </a:t>
            </a:r>
            <a:r>
              <a:rPr kumimoji="1" lang="zh-CN" altLang="en-US" sz="1600" dirty="0"/>
              <a:t>状态、</a:t>
            </a:r>
            <a:r>
              <a:rPr kumimoji="1" lang="en" altLang="zh-CN" sz="1600" dirty="0"/>
              <a:t>milestone</a:t>
            </a:r>
            <a:r>
              <a:rPr kumimoji="1" lang="zh-CN" altLang="en" sz="1600" dirty="0"/>
              <a:t>、</a:t>
            </a:r>
            <a:r>
              <a:rPr kumimoji="1" lang="en" altLang="zh-CN" sz="1600" dirty="0"/>
              <a:t>style </a:t>
            </a:r>
            <a:r>
              <a:rPr kumimoji="1" lang="zh-CN" altLang="en-US" sz="1600" dirty="0"/>
              <a:t>摘要</a:t>
            </a:r>
          </a:p>
          <a:p>
            <a:r>
              <a:rPr kumimoji="1" lang="zh-CN" altLang="en-US" sz="1600" dirty="0"/>
              <a:t>│   └── </a:t>
            </a:r>
            <a:r>
              <a:rPr kumimoji="1" lang="en" altLang="zh-CN" sz="1600" dirty="0" err="1"/>
              <a:t>style_record.md</a:t>
            </a:r>
            <a:r>
              <a:rPr kumimoji="1" lang="en" altLang="zh-CN" sz="1600" dirty="0"/>
              <a:t>       # </a:t>
            </a:r>
            <a:r>
              <a:rPr kumimoji="1" lang="zh-CN" altLang="en-US" sz="1600" dirty="0"/>
              <a:t>人类风格记录，尽量原文保留</a:t>
            </a:r>
          </a:p>
          <a:p>
            <a:r>
              <a:rPr kumimoji="1" lang="zh-CN" altLang="en-US" sz="1600" dirty="0"/>
              <a:t>└── </a:t>
            </a:r>
            <a:r>
              <a:rPr kumimoji="1" lang="en" altLang="zh-CN" sz="1600" dirty="0" err="1"/>
              <a:t>src</a:t>
            </a:r>
            <a:r>
              <a:rPr kumimoji="1" lang="en" altLang="zh-CN" sz="1600" dirty="0"/>
              <a:t>/ tests/ ...           # </a:t>
            </a:r>
            <a:r>
              <a:rPr kumimoji="1" lang="zh-CN" altLang="en-US" sz="1600" dirty="0"/>
              <a:t>正常代码仓库内容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571FBBB-3925-A8E9-3CD1-046867B8E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99" y="5663235"/>
            <a:ext cx="11506513" cy="75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2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任务看板与协议设计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Board Protocol — 结构化任务管理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1300000"/>
            <a:ext cx="2700000" cy="19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0000" y="1300000"/>
            <a:ext cx="2700000" cy="5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70000" y="1480000"/>
            <a:ext cx="1100000" cy="360000"/>
          </a:xfrm>
          <a:prstGeom prst="roundRect">
            <a:avLst/>
          </a:prstGeom>
          <a:solidFill>
            <a:srgbClr val="0D7C3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0000" y="1480000"/>
            <a:ext cx="11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D7C3D"/>
                </a:solidFill>
                <a:latin typeface="Microsoft YaHei"/>
              </a:defRPr>
            </a:pPr>
            <a:r>
              <a:t>T001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" y="20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Date 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" y="2350000"/>
            <a:ext cx="2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D7C3D"/>
                </a:solidFill>
                <a:latin typeface="Microsoft YaHei"/>
              </a:defRPr>
            </a:pPr>
            <a:r>
              <a:t>DONE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000" y="2650000"/>
            <a:ext cx="24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日期解析器</a:t>
            </a:r>
            <a:br/>
            <a:r>
              <a:t>实现日期字段识别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990000" y="2100000"/>
            <a:ext cx="200000" cy="18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20000" y="1300000"/>
            <a:ext cx="2700000" cy="19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20000" y="1300000"/>
            <a:ext cx="2700000" cy="5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0000" y="1480000"/>
            <a:ext cx="1100000" cy="360000"/>
          </a:xfrm>
          <a:prstGeom prst="roundRect">
            <a:avLst/>
          </a:prstGeom>
          <a:solidFill>
            <a:srgbClr val="1A56DB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0000" y="1480000"/>
            <a:ext cx="11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T002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0000" y="20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CSV 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0000" y="2350000"/>
            <a:ext cx="2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IN_PROGRESS 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0000" y="2650000"/>
            <a:ext cx="24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CSV 导入模块</a:t>
            </a:r>
            <a:br/>
            <a:r>
              <a:t>使用 date parser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40000" y="2100000"/>
            <a:ext cx="200000" cy="18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0000" y="1300000"/>
            <a:ext cx="2700000" cy="19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0000" y="1300000"/>
            <a:ext cx="2700000" cy="50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70000" y="1480000"/>
            <a:ext cx="1100000" cy="360000"/>
          </a:xfrm>
          <a:prstGeom prst="roundRect">
            <a:avLst/>
          </a:prstGeom>
          <a:solidFill>
            <a:srgbClr val="7B2D8E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70000" y="1480000"/>
            <a:ext cx="11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7B2D8E"/>
                </a:solidFill>
                <a:latin typeface="Microsoft YaHei"/>
              </a:defRPr>
            </a:pPr>
            <a:r>
              <a:t>T003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0000" y="20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Monthly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0000" y="2350000"/>
            <a:ext cx="2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7B2D8E"/>
                </a:solidFill>
                <a:latin typeface="Microsoft YaHei"/>
              </a:defRPr>
            </a:pPr>
            <a:r>
              <a:t>TODO 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0000" y="2650000"/>
            <a:ext cx="24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月度汇总报表</a:t>
            </a:r>
            <a:br/>
            <a:r>
              <a:t>按月份和类别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890000" y="2100000"/>
            <a:ext cx="200000" cy="18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20000" y="1300000"/>
            <a:ext cx="2700000" cy="19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20000" y="1300000"/>
            <a:ext cx="2700000" cy="5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920000" y="1480000"/>
            <a:ext cx="1100000" cy="360000"/>
          </a:xfrm>
          <a:prstGeom prst="roundRect">
            <a:avLst/>
          </a:prstGeom>
          <a:solidFill>
            <a:srgbClr val="8B000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20000" y="1480000"/>
            <a:ext cx="11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8B0000"/>
                </a:solidFill>
                <a:latin typeface="Microsoft YaHei"/>
              </a:defRPr>
            </a:pPr>
            <a:r>
              <a:t>T004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0000" y="2000000"/>
            <a:ext cx="2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Report Artifact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0000" y="2350000"/>
            <a:ext cx="2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8B0000"/>
                </a:solidFill>
                <a:latin typeface="Microsoft YaHei"/>
              </a:defRPr>
            </a:pPr>
            <a:r>
              <a:t>TODO 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0000" y="2650000"/>
            <a:ext cx="24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报告制品输出</a:t>
            </a:r>
            <a:br/>
            <a:r>
              <a:t>Markdown 格式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000" y="3500000"/>
            <a:ext cx="11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t>▎任务状态流转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0000" y="3900000"/>
            <a:ext cx="2100000" cy="440000"/>
          </a:xfrm>
          <a:prstGeom prst="roundRect">
            <a:avLst/>
          </a:prstGeom>
          <a:solidFill>
            <a:srgbClr val="99999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999999"/>
                </a:solidFill>
                <a:latin typeface="Microsoft YaHei"/>
              </a:defRPr>
            </a:pPr>
            <a:r>
              <a:rPr dirty="0"/>
              <a:t>TODO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2470000" y="4000000"/>
            <a:ext cx="160000" cy="14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650000" y="3900000"/>
            <a:ext cx="2100000" cy="440000"/>
          </a:xfrm>
          <a:prstGeom prst="roundRect">
            <a:avLst/>
          </a:prstGeom>
          <a:solidFill>
            <a:srgbClr val="1A56D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5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IN_PROGRESS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750000" y="4000000"/>
            <a:ext cx="160000" cy="14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930000" y="3900000"/>
            <a:ext cx="2100000" cy="440000"/>
          </a:xfrm>
          <a:prstGeom prst="roundRect">
            <a:avLst/>
          </a:prstGeom>
          <a:solidFill>
            <a:srgbClr val="8B000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3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8B0000"/>
                </a:solidFill>
                <a:latin typeface="Microsoft YaHei"/>
              </a:defRPr>
            </a:pPr>
            <a:r>
              <a:t>BLOCKED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030000" y="4000000"/>
            <a:ext cx="160000" cy="14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210000" y="3900000"/>
            <a:ext cx="2100000" cy="440000"/>
          </a:xfrm>
          <a:prstGeom prst="roundRect">
            <a:avLst/>
          </a:prstGeom>
          <a:solidFill>
            <a:srgbClr val="E46A1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1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46A1F"/>
                </a:solidFill>
                <a:latin typeface="Microsoft YaHei"/>
              </a:defRPr>
            </a:pPr>
            <a:r>
              <a:t>READY_FOR_REVIEW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9310000" y="4000000"/>
            <a:ext cx="160000" cy="14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490000" y="3900000"/>
            <a:ext cx="2100000" cy="440000"/>
          </a:xfrm>
          <a:prstGeom prst="roundRect">
            <a:avLst/>
          </a:prstGeom>
          <a:solidFill>
            <a:srgbClr val="0D7C3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90000" y="3900000"/>
            <a:ext cx="2100000" cy="4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D7C3D"/>
                </a:solidFill>
                <a:latin typeface="Microsoft YaHei"/>
              </a:defRPr>
            </a:pPr>
            <a:r>
              <a:t>DONE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0000" y="4600000"/>
            <a:ext cx="11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8B0000"/>
                </a:solidFill>
                <a:latin typeface="Microsoft YaHei"/>
              </a:defRPr>
            </a:pPr>
            <a:r>
              <a:t>▎验收命令示例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  $ PYTHONPATH=demo_repo_template/src python3 -m unittest discover -s tests -p 'test_parser.py'</a:t>
            </a:r>
          </a:p>
          <a:p>
            <a:pPr>
              <a:spcAft>
                <a:spcPts val="300"/>
              </a:spcAft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  $ PYTHONPATH=. python3 tools/benchmark_scorer.py --task task.yaml --repo . --output score.json</a:t>
            </a:r>
          </a:p>
          <a:p>
            <a:pPr>
              <a:spcAft>
                <a:spcPts val="30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  <a:endParaRPr/>
          </a:p>
          <a:p>
            <a:pPr>
              <a:spcAft>
                <a:spcPts val="300"/>
              </a:spcAft>
              <a:defRPr sz="1300" b="1">
                <a:solidFill>
                  <a:srgbClr val="8B0000"/>
                </a:solidFill>
                <a:latin typeface="Microsoft YaHei"/>
              </a:defRPr>
            </a:pPr>
            <a:r>
              <a:t>▎Board 协议输出文件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.board/tasks.yaml  |  .board/handoffs/&lt;id&gt;_&lt;agent&gt;.json  |  .board/reviews/&lt;id&gt;_review.md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.repo_manager/repo_style_profile.json  |  .repo_manager/agent_context.md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rPr dirty="0"/>
              <a:t>Agent </a:t>
            </a:r>
            <a:r>
              <a:rPr dirty="0" err="1"/>
              <a:t>交接流程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Handoff Flow — </a:t>
            </a:r>
            <a:r>
              <a:rPr dirty="0" err="1"/>
              <a:t>看板驱动的多</a:t>
            </a:r>
            <a:r>
              <a:rPr dirty="0"/>
              <a:t> Agent </a:t>
            </a:r>
            <a:r>
              <a:rPr dirty="0" err="1"/>
              <a:t>协作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22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0000" y="1300000"/>
            <a:ext cx="1800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用户发起</a:t>
            </a:r>
            <a:br/>
            <a:r>
              <a:t>Agent A 任务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4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0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00000" y="1300000"/>
            <a:ext cx="1800000" cy="4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0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读取 tasks.yaml</a:t>
            </a:r>
            <a:br/>
            <a:r>
              <a:t>agent_context.md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2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8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80000" y="1300000"/>
            <a:ext cx="1800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8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✏️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在 allowed_paths</a:t>
            </a:r>
            <a:br/>
            <a:r>
              <a:t>内修改文件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0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6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0000" y="1300000"/>
            <a:ext cx="1800000" cy="4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6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运行验收命令</a:t>
            </a:r>
            <a:br/>
            <a:r>
              <a:t>记录验证证据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98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4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40000" y="1300000"/>
            <a:ext cx="1800000" cy="40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4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更新状态</a:t>
            </a:r>
            <a:br/>
            <a:r>
              <a:t>写 handoff JSON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960000" y="2000000"/>
            <a:ext cx="140000" cy="160000"/>
          </a:xfrm>
          <a:prstGeom prst="rightArrow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120000" y="1300000"/>
            <a:ext cx="1800000" cy="1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120000" y="1300000"/>
            <a:ext cx="1800000" cy="4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20000" y="140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333333"/>
                </a:solidFill>
                <a:latin typeface="Microsoft YaHei"/>
              </a:defRPr>
            </a:pPr>
            <a:r>
              <a:t>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0000" y="1950000"/>
            <a:ext cx="164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Agent B</a:t>
            </a:r>
            <a:br/>
            <a:r>
              <a:t>依赖 repo 接手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000" y="3300000"/>
            <a:ext cx="1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8B0000"/>
                </a:solidFill>
                <a:latin typeface="Microsoft YaHei"/>
              </a:defRPr>
            </a:pPr>
            <a:r>
              <a:t>▎Reviewer / Scorer 检查链路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0000" y="3750000"/>
            <a:ext cx="2100000" cy="4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D7C3D"/>
                </a:solidFill>
                <a:latin typeface="Microsoft YaHei"/>
              </a:defRPr>
            </a:pPr>
            <a:r>
              <a:t>Correctness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验收命令</a:t>
            </a:r>
            <a:br/>
            <a:r>
              <a:t>是否通过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690000" y="3750000"/>
            <a:ext cx="2100000" cy="4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9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E46A1F"/>
                </a:solidFill>
                <a:latin typeface="Microsoft YaHei"/>
              </a:defRPr>
            </a:pPr>
            <a:r>
              <a:t>Hygiene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4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代码健康</a:t>
            </a:r>
            <a:br/>
            <a:r>
              <a:t>&amp; 味道检测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1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10000" y="3750000"/>
            <a:ext cx="2100000" cy="4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1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Scope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修改是否</a:t>
            </a:r>
            <a:br/>
            <a:r>
              <a:t>超出范围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3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330000" y="3750000"/>
            <a:ext cx="2100000" cy="4000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3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7B2D8E"/>
                </a:solidFill>
                <a:latin typeface="Microsoft YaHei"/>
              </a:defRPr>
            </a:pPr>
            <a:r>
              <a:t>Handoff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8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交接记录</a:t>
            </a:r>
            <a:br/>
            <a:r>
              <a:t>完整性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50000" y="3750000"/>
            <a:ext cx="2100000" cy="1300000"/>
          </a:xfrm>
          <a:prstGeom prst="rect">
            <a:avLst/>
          </a:prstGeom>
          <a:solidFill>
            <a:srgbClr val="FFF5F0"/>
          </a:solidFill>
          <a:ln w="635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50000" y="3750000"/>
            <a:ext cx="2100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50000" y="3900000"/>
            <a:ext cx="21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8B0000"/>
                </a:solidFill>
                <a:latin typeface="Microsoft YaHei"/>
              </a:defRPr>
            </a:pPr>
            <a:r>
              <a:t>Board</a:t>
            </a:r>
            <a:br/>
            <a:r>
              <a:t>Consistency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0000" y="4400000"/>
            <a:ext cx="1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看板状态</a:t>
            </a:r>
            <a:br/>
            <a:r>
              <a:t>一致性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000" y="5350000"/>
            <a:ext cx="114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t>▎Agent 交接工作顺序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1. 读取 .board/tasks.yaml  →  2. 读取 agent_context.md  →  3. 只改 allowed_paths 文件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4. 运行 acceptance_commands  →  5. 更新 tasks.yaml 状态  →  6. 写 handoff JSON  →  7. 更新 agent_context.md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0586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代码健康审查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000" y="885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dirty="0"/>
              <a:t>Code Health Review — Repo-Adaptive </a:t>
            </a:r>
            <a:r>
              <a:rPr dirty="0" err="1"/>
              <a:t>规则检测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70000" y="1644172"/>
            <a:ext cx="11400000" cy="3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0000" y="1644172"/>
            <a:ext cx="30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检测项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0000" y="1644172"/>
            <a:ext cx="30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严重度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0000" y="1644172"/>
            <a:ext cx="3000000" cy="3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000" y="196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000" y="196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patch_name_smell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0000" y="196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196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函数名命中 patch_keywords（如 fix, safe, patch）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000" y="2244172"/>
            <a:ext cx="11400000" cy="28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0000" y="224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unused_function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224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D7C3D"/>
                </a:solidFill>
                <a:latin typeface="Microsoft YaHei"/>
              </a:defRPr>
            </a:pPr>
            <a:r>
              <a:rPr dirty="0"/>
              <a:t>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224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定义但未被其他函数调用的孤立函数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000" y="252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0000" y="252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wrapper_function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0000" y="252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D7C3D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0" y="252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≤5 行且只委托给单一函数的 thin wrapper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000" y="2804172"/>
            <a:ext cx="11400000" cy="28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0000" y="280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duplicate_function_name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0000" y="280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D7C3D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0" y="280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同名函数在仓库中出现多次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000" y="308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0000" y="308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suspicious_file_name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0000" y="308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0" y="308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文件名命中 suspicious_file_keywords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000" y="3364172"/>
            <a:ext cx="11400000" cy="28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0000" y="336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fragmented_helpers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0000" y="336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0" y="336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单个文件包含 ≥4 个短 helper-like 函数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000" y="364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0000" y="364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too_many_top_level_py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0000" y="364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0" y="364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顶级目录 .py 文件数量 &gt; 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0000" y="3924172"/>
            <a:ext cx="11400000" cy="280000"/>
          </a:xfrm>
          <a:prstGeom prst="rect">
            <a:avLst/>
          </a:prstGeom>
          <a:solidFill>
            <a:srgbClr val="FFF5F0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0000" y="392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suspicious_directory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0000" y="392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D7C3D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000" y="392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目录名命中 suspicious_directory_keywords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000" y="4204172"/>
            <a:ext cx="11400000" cy="280000"/>
          </a:xfrm>
          <a:prstGeom prst="rect">
            <a:avLst/>
          </a:prstGeom>
          <a:solidFill>
            <a:srgbClr val="FFFFFF"/>
          </a:solidFill>
          <a:ln w="3810">
            <a:solidFill>
              <a:srgbClr val="E8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0000" y="4204172"/>
            <a:ext cx="3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py_inside_output_dir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0000" y="4204172"/>
            <a:ext cx="9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46A1F"/>
                </a:solidFill>
                <a:latin typeface="Microsoft YaHei"/>
              </a:defRPr>
            </a:pPr>
            <a:r>
              <a:t>⚠ 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0000" y="4204172"/>
            <a:ext cx="6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333333"/>
                </a:solidFill>
                <a:latin typeface="Microsoft YaHei"/>
              </a:defRPr>
            </a:pPr>
            <a:r>
              <a:t>.py 文件位于 output/artifact/result 目录内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000" y="4700000"/>
            <a:ext cx="1720000" cy="880000"/>
          </a:xfrm>
          <a:prstGeom prst="roundRect">
            <a:avLst/>
          </a:prstGeom>
          <a:solidFill>
            <a:srgbClr val="8B000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290000" y="4700000"/>
            <a:ext cx="1720000" cy="880000"/>
          </a:xfrm>
          <a:prstGeom prst="roundRect">
            <a:avLst/>
          </a:prstGeom>
          <a:solidFill>
            <a:srgbClr val="E46A1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050000" y="4700000"/>
            <a:ext cx="1720000" cy="880000"/>
          </a:xfrm>
          <a:prstGeom prst="roundRect">
            <a:avLst/>
          </a:prstGeom>
          <a:solidFill>
            <a:srgbClr val="0D7C3D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970000" y="4700000"/>
            <a:ext cx="1720000" cy="880000"/>
          </a:xfrm>
          <a:prstGeom prst="roundRect">
            <a:avLst/>
          </a:prstGeom>
          <a:solidFill>
            <a:srgbClr val="7B2D8E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7 / 15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59F38CB-EFAA-68EB-F019-DC56D49B6DA9}"/>
              </a:ext>
            </a:extLst>
          </p:cNvPr>
          <p:cNvSpPr txBox="1"/>
          <p:nvPr/>
        </p:nvSpPr>
        <p:spPr>
          <a:xfrm>
            <a:off x="342659" y="1277483"/>
            <a:ext cx="3676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Smell Rules</a:t>
            </a:r>
            <a:endParaRPr lang="zh-CN" altLang="en-US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3C117F5-C50B-91E0-8DD6-95B548C9A7FF}"/>
              </a:ext>
            </a:extLst>
          </p:cNvPr>
          <p:cNvSpPr txBox="1"/>
          <p:nvPr/>
        </p:nvSpPr>
        <p:spPr>
          <a:xfrm>
            <a:off x="370000" y="4593773"/>
            <a:ext cx="3676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Search Rules</a:t>
            </a:r>
            <a:endParaRPr lang="zh-CN" altLang="en-US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294A8051-A387-0609-3A95-5F453CD46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29945"/>
              </p:ext>
            </p:extLst>
          </p:nvPr>
        </p:nvGraphicFramePr>
        <p:xfrm>
          <a:off x="502000" y="5041006"/>
          <a:ext cx="10494448" cy="122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7224">
                  <a:extLst>
                    <a:ext uri="{9D8B030D-6E8A-4147-A177-3AD203B41FA5}">
                      <a16:colId xmlns:a16="http://schemas.microsoft.com/office/drawing/2014/main" val="2118255273"/>
                    </a:ext>
                  </a:extLst>
                </a:gridCol>
                <a:gridCol w="5247224">
                  <a:extLst>
                    <a:ext uri="{9D8B030D-6E8A-4147-A177-3AD203B41FA5}">
                      <a16:colId xmlns:a16="http://schemas.microsoft.com/office/drawing/2014/main" val="3193050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Exclude Folders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.devel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.build /.git / .log /.model / Specific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90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Exclude </a:t>
                      </a:r>
                      <a:r>
                        <a:rPr lang="en-US" altLang="zh-CN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Dirs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Init.py / main.py / Specific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481051"/>
                  </a:ext>
                </a:extLst>
              </a:tr>
              <a:tr h="487558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Exclude Functions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Main.py / test.py</a:t>
                      </a:r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8768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063117" y="287973"/>
            <a:ext cx="4436107" cy="1051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25938"/>
            <a:ext cx="5036000" cy="52406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Repo-Adaptive 自适应规则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仓库风格学习与规则动态演化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000" y="1338973"/>
            <a:ext cx="6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8B0000"/>
                </a:solidFill>
                <a:latin typeface="Microsoft YaHei"/>
              </a:defRPr>
            </a:pPr>
            <a:r>
              <a:t>▎规则文件层次与演化路径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000" y="1788973"/>
            <a:ext cx="50000" cy="3800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2297" y="1766456"/>
            <a:ext cx="5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999999"/>
                </a:solidFill>
                <a:latin typeface="Microsoft YaHei"/>
              </a:defRPr>
            </a:pPr>
            <a:r>
              <a:rPr sz="1200" dirty="0" err="1"/>
              <a:t>repo_manager_core</a:t>
            </a:r>
            <a:r>
              <a:rPr sz="1200" dirty="0"/>
              <a:t>/</a:t>
            </a:r>
            <a:r>
              <a:rPr sz="1200" dirty="0" err="1"/>
              <a:t>default_smell_rules.json</a:t>
            </a:r>
            <a:endParaRPr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596000" y="1998973"/>
            <a:ext cx="500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sz="1400" dirty="0" err="1"/>
              <a:t>包内默认规则（只读，不修改</a:t>
            </a:r>
            <a:r>
              <a:rPr sz="1400" dirty="0"/>
              <a:t>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6000" y="2288973"/>
            <a:ext cx="50000" cy="380000"/>
          </a:xfrm>
          <a:prstGeom prst="rect">
            <a:avLst/>
          </a:prstGeom>
          <a:solidFill>
            <a:srgbClr val="E46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000" y="2288973"/>
            <a:ext cx="5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46A1F"/>
                </a:solidFill>
                <a:latin typeface="Microsoft YaHei"/>
              </a:defRPr>
            </a:pPr>
            <a:r>
              <a:t>.repo_manager/smell_rules.json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000" y="2498973"/>
            <a:ext cx="500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sz="1200" dirty="0" err="1"/>
              <a:t>当前仓库</a:t>
            </a:r>
            <a:r>
              <a:rPr sz="1200" dirty="0"/>
              <a:t> keyword </a:t>
            </a:r>
            <a:r>
              <a:rPr sz="1200" dirty="0" err="1"/>
              <a:t>策略（优先编辑</a:t>
            </a:r>
            <a:r>
              <a:rPr dirty="0"/>
              <a:t>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6000" y="2788973"/>
            <a:ext cx="50000" cy="380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000" y="2788973"/>
            <a:ext cx="5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rPr dirty="0"/>
              <a:t>.</a:t>
            </a:r>
            <a:r>
              <a:rPr dirty="0" err="1"/>
              <a:t>repo_manager</a:t>
            </a:r>
            <a:r>
              <a:rPr dirty="0"/>
              <a:t>/</a:t>
            </a:r>
            <a:r>
              <a:rPr dirty="0" err="1"/>
              <a:t>search_rules.json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896000" y="2998973"/>
            <a:ext cx="500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sz="1200" dirty="0" err="1"/>
              <a:t>当前仓库扫描范围（优先编辑</a:t>
            </a:r>
            <a:r>
              <a:rPr sz="1200" dirty="0"/>
              <a:t>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4890" y="3277773"/>
            <a:ext cx="50000" cy="380000"/>
          </a:xfrm>
          <a:prstGeom prst="rect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6000" y="3279649"/>
            <a:ext cx="5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D7C3D"/>
                </a:solidFill>
                <a:latin typeface="Microsoft YaHei"/>
              </a:defRPr>
            </a:pPr>
            <a:r>
              <a:rPr dirty="0"/>
              <a:t>.</a:t>
            </a:r>
            <a:r>
              <a:rPr dirty="0" err="1"/>
              <a:t>repo_manager</a:t>
            </a:r>
            <a:r>
              <a:rPr dirty="0"/>
              <a:t>/</a:t>
            </a:r>
            <a:r>
              <a:rPr dirty="0" err="1"/>
              <a:t>user_feedback.jsonl</a:t>
            </a: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907490" y="3467773"/>
            <a:ext cx="5000000" cy="17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rPr sz="1200" dirty="0" err="1"/>
              <a:t>人工反馈事件日志（可审计可回滚</a:t>
            </a:r>
            <a:r>
              <a:rPr sz="1200" dirty="0"/>
              <a:t>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9510" y="1386973"/>
            <a:ext cx="3850000" cy="536436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92300" y="1569353"/>
            <a:ext cx="2300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rPr lang="en-US" altLang="zh-CN" dirty="0" err="1"/>
              <a:t>Search_rules</a:t>
            </a:r>
            <a:r>
              <a:rPr dirty="0" err="1"/>
              <a:t>.json</a:t>
            </a:r>
            <a:r>
              <a:rPr dirty="0"/>
              <a:t> </a:t>
            </a:r>
            <a:r>
              <a:rPr dirty="0" err="1"/>
              <a:t>示例</a:t>
            </a:r>
            <a:endParaRPr dirty="0"/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"exclude_dirs": [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".git",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".hg",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".svn",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".venv",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"venv",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"__pycache__",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".pytest_cache",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".mypy_cache",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".ruff_cache",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"dist",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"build",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"node_modules",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"repo_manager_report"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],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"exclude_files": [],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"exclude_globs": [],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"file_suffixes": [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".py"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],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"include_paths": [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  "."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],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 "schema_version": 1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b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876000" y="5088973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9 / 15</a:t>
            </a:r>
          </a:p>
        </p:txBody>
      </p:sp>
      <p:sp>
        <p:nvSpPr>
          <p:cNvPr id="45" name="Rectangle 41">
            <a:extLst>
              <a:ext uri="{FF2B5EF4-FFF2-40B4-BE49-F238E27FC236}">
                <a16:creationId xmlns:a16="http://schemas.microsoft.com/office/drawing/2014/main" id="{9C190263-E318-86C4-34E4-A9EDDE8585EC}"/>
              </a:ext>
            </a:extLst>
          </p:cNvPr>
          <p:cNvSpPr/>
          <p:nvPr/>
        </p:nvSpPr>
        <p:spPr>
          <a:xfrm>
            <a:off x="8196000" y="1355545"/>
            <a:ext cx="3850000" cy="542245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2">
            <a:extLst>
              <a:ext uri="{FF2B5EF4-FFF2-40B4-BE49-F238E27FC236}">
                <a16:creationId xmlns:a16="http://schemas.microsoft.com/office/drawing/2014/main" id="{4B0C561F-2118-A30F-26C8-D9AA7BA9AF8E}"/>
              </a:ext>
            </a:extLst>
          </p:cNvPr>
          <p:cNvSpPr txBox="1"/>
          <p:nvPr/>
        </p:nvSpPr>
        <p:spPr>
          <a:xfrm>
            <a:off x="8548162" y="1629353"/>
            <a:ext cx="2951062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rPr lang="en-US" sz="1100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sz="1100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mell_rules.json</a:t>
            </a:r>
            <a:r>
              <a:rPr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100" dirty="0" err="1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sz="11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3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  <a:endParaRPr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"default_parameter_values": 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"helper_keywords": {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},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"patch_keywords": {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"fix": {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  "policy": "suspicious",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  "source": "default_config"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},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"hack": {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  "policy": "suspicious",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  "source": "default_config"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},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"quick": {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  "policy": "suspicious",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  "source": "default_config"</a:t>
            </a: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  }     </a:t>
            </a:r>
            <a:endParaRPr lang="en-US" altLang="zh-CN" sz="11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},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"suspicious_directory_keywords": {  },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 "suspicious_file_keywords": { }</a:t>
            </a:r>
          </a:p>
          <a:p>
            <a: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br>
              <a:rPr lang="zh-CN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 lIns="73152" rIns="73152" tIns="36576" bIns="36576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rPr sz="2800" b="1">
                <a:solidFill>
                  <a:srgbClr val="2B2B35"/>
                </a:solidFill>
                <a:latin typeface="Microsoft YaHei"/>
              </a:rPr>
              <a:t>实验结果对比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 lIns="73152" rIns="73152" tIns="36576" bIns="36576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rPr sz="1400" b="0">
                <a:solidFill>
                  <a:srgbClr val="B22222"/>
                </a:solidFill>
                <a:latin typeface="Microsoft YaHei"/>
              </a:rPr>
              <a:t>Experiment Results — 文件结构、整洁度与可审计性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12 / 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1051560"/>
            <a:ext cx="5349240" cy="4892040"/>
          </a:xfrm>
          <a:prstGeom prst="roundRect">
            <a:avLst/>
          </a:prstGeom>
          <a:solidFill>
            <a:srgbClr val="F5EEE8"/>
          </a:solidFill>
          <a:ln w="1524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1207008"/>
            <a:ext cx="1508760" cy="310896"/>
          </a:xfrm>
          <a:prstGeom prst="round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FINAL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4800600" cy="32918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2B2B35"/>
                </a:solidFill>
                <a:latin typeface="Microsoft YaHei"/>
              </a:rPr>
              <a:t>B001 → B004 完整任务链：两组均通过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011680"/>
            <a:ext cx="144475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112264"/>
            <a:ext cx="1298448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B22222"/>
                </a:solidFill>
                <a:latin typeface="Microsoft YaHei"/>
              </a:rPr>
              <a:t>4 /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2487168"/>
            <a:ext cx="1298448" cy="38404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880" b="0">
                <a:solidFill>
                  <a:srgbClr val="666666"/>
                </a:solidFill>
                <a:latin typeface="Microsoft YaHei"/>
              </a:rPr>
              <a:t>Full BoardFlow
stages accepted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21992" y="2011680"/>
            <a:ext cx="144475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95144" y="2112264"/>
            <a:ext cx="1298448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B22222"/>
                </a:solidFill>
                <a:latin typeface="Microsoft YaHei"/>
              </a:rPr>
              <a:t>4 /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95144" y="2487168"/>
            <a:ext cx="1298448" cy="38404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880" b="0">
                <a:solidFill>
                  <a:srgbClr val="666666"/>
                </a:solidFill>
                <a:latin typeface="Microsoft YaHei"/>
              </a:rPr>
              <a:t>No-board
stages accepted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9624" y="2011680"/>
            <a:ext cx="1444752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22776" y="2112264"/>
            <a:ext cx="1298448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2200" b="1">
                <a:solidFill>
                  <a:srgbClr val="B22222"/>
                </a:solidFill>
                <a:latin typeface="Microsoft YaHe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22776" y="2487168"/>
            <a:ext cx="1298448" cy="38404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880" b="0">
                <a:solidFill>
                  <a:srgbClr val="666666"/>
                </a:solidFill>
                <a:latin typeface="Microsoft YaHei"/>
              </a:rPr>
              <a:t>scope / handoff /
board violations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3182112"/>
            <a:ext cx="4663440" cy="237744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300" b="1">
                <a:solidFill>
                  <a:srgbClr val="2B2B35"/>
                </a:solidFill>
                <a:latin typeface="Microsoft YaHei"/>
              </a:rPr>
              <a:t>最终聚合结果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520440"/>
            <a:ext cx="1920240" cy="384048"/>
          </a:xfrm>
          <a:prstGeom prst="rect">
            <a:avLst/>
          </a:prstGeom>
          <a:solidFill>
            <a:srgbClr val="B22222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3575304"/>
            <a:ext cx="1865376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Microsoft YaHei"/>
              </a:rPr>
              <a:t>Condition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4600" y="3520440"/>
            <a:ext cx="1097280" cy="384048"/>
          </a:xfrm>
          <a:prstGeom prst="rect">
            <a:avLst/>
          </a:prstGeom>
          <a:solidFill>
            <a:srgbClr val="B22222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42032" y="3575304"/>
            <a:ext cx="1042415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Completed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3520440"/>
            <a:ext cx="777240" cy="384048"/>
          </a:xfrm>
          <a:prstGeom prst="rect">
            <a:avLst/>
          </a:prstGeom>
          <a:solidFill>
            <a:srgbClr val="B22222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39312" y="3575304"/>
            <a:ext cx="722376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Stages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3520440"/>
            <a:ext cx="777240" cy="384048"/>
          </a:xfrm>
          <a:prstGeom prst="rect">
            <a:avLst/>
          </a:prstGeom>
          <a:solidFill>
            <a:srgbClr val="B22222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16552" y="3575304"/>
            <a:ext cx="722376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Pass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3904488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3959352"/>
            <a:ext cx="1865376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869" b="0">
                <a:solidFill>
                  <a:srgbClr val="2B2B35"/>
                </a:solidFill>
                <a:latin typeface="Microsoft YaHei"/>
              </a:rPr>
              <a:t>full_boardflow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14600" y="390448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42032" y="3959352"/>
            <a:ext cx="1042415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2B2B35"/>
                </a:solidFill>
                <a:latin typeface="Microsoft YaHei"/>
              </a:rPr>
              <a:t>1/1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11880" y="3904488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39312" y="3959352"/>
            <a:ext cx="722376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2B2B35"/>
                </a:solidFill>
                <a:latin typeface="Microsoft YaHei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3904488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16552" y="3959352"/>
            <a:ext cx="722376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2B2B35"/>
                </a:solidFill>
                <a:latin typeface="Microsoft YaHei"/>
              </a:rPr>
              <a:t>1.00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28853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4343400"/>
            <a:ext cx="1865376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869" b="0">
                <a:solidFill>
                  <a:srgbClr val="2B2B35"/>
                </a:solidFill>
                <a:latin typeface="Microsoft YaHei"/>
              </a:rPr>
              <a:t>no_board_baseline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14600" y="4288536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42032" y="4343400"/>
            <a:ext cx="1042415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2B2B35"/>
                </a:solidFill>
                <a:latin typeface="Microsoft YaHei"/>
              </a:rPr>
              <a:t>1/1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11880" y="428853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39312" y="4343400"/>
            <a:ext cx="722376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2B2B35"/>
                </a:solidFill>
                <a:latin typeface="Microsoft YaHei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4288536"/>
            <a:ext cx="777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C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16552" y="4343400"/>
            <a:ext cx="722376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950" b="0">
                <a:solidFill>
                  <a:srgbClr val="2B2B35"/>
                </a:solidFill>
                <a:latin typeface="Microsoft YaHei"/>
              </a:rPr>
              <a:t>1.00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4800600"/>
            <a:ext cx="4800600" cy="777240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30" b="1">
                <a:solidFill>
                  <a:srgbClr val="B22222"/>
                </a:solidFill>
                <a:latin typeface="Microsoft YaHei"/>
              </a:rPr>
              <a:t>结论：</a:t>
            </a:r>
          </a:p>
          <a:p>
            <a:pPr>
              <a:spcAft>
                <a:spcPts val="200"/>
              </a:spcAft>
            </a:pPr>
            <a:r>
              <a:rPr sz="1030" b="0">
                <a:solidFill>
                  <a:srgbClr val="2B2B35"/>
                </a:solidFill>
                <a:latin typeface="Microsoft YaHei"/>
              </a:rPr>
              <a:t>不是 pass rate 更高，而是 full 产生可审计过程证据；</a:t>
            </a:r>
          </a:p>
          <a:p>
            <a:pPr>
              <a:spcAft>
                <a:spcPts val="200"/>
              </a:spcAft>
            </a:pPr>
            <a:r>
              <a:rPr sz="1030" b="0">
                <a:solidFill>
                  <a:srgbClr val="2B2B35"/>
                </a:solidFill>
                <a:latin typeface="Microsoft YaHei"/>
              </a:rPr>
              <a:t>deterministic gate 将失败转化为结构化 repair loop。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0" y="1051560"/>
            <a:ext cx="5074920" cy="2331720"/>
          </a:xfrm>
          <a:prstGeom prst="roundRect">
            <a:avLst/>
          </a:prstGeom>
          <a:solidFill>
            <a:srgbClr val="F5EEE8"/>
          </a:solidFill>
          <a:ln w="1524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144768" y="1207008"/>
            <a:ext cx="1508760" cy="310896"/>
          </a:xfrm>
          <a:prstGeom prst="roundRect">
            <a:avLst/>
          </a:prstGeom>
          <a:solidFill>
            <a:srgbClr val="1E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FILE TREE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44768" y="1572768"/>
            <a:ext cx="45720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2B2B35"/>
                </a:solidFill>
                <a:latin typeface="Microsoft YaHei"/>
              </a:rPr>
              <a:t>文件夹结构差异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0" y="1901952"/>
            <a:ext cx="4572000" cy="1188720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B22222"/>
                </a:solidFill>
                <a:latin typeface="Microsoft YaHei"/>
              </a:rPr>
              <a:t>Full BoardFlow 独有：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2B2B35"/>
                </a:solidFill>
                <a:latin typeface="Microsoft YaHei"/>
              </a:rPr>
              <a:t>.board/tasks.yaml · assigned_task.yaml · evidence/B001-B004.json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2B2B35"/>
                </a:solidFill>
                <a:latin typeface="Microsoft YaHei"/>
              </a:rPr>
              <a:t>.board/handoffs/* · handoff.schema.json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2B2B35"/>
                </a:solidFill>
                <a:latin typeface="Microsoft YaHei"/>
              </a:rPr>
              <a:t>.repo_manager/agent_context.md · repo_style_profile.json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2B2B35"/>
                </a:solidFill>
                <a:latin typeface="Microsoft YaHei"/>
              </a:rPr>
              <a:t>AGENTS.md · AI_CONTRACT.md · PROJECT_BOARD.md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43600" y="3611880"/>
            <a:ext cx="5074920" cy="2331720"/>
          </a:xfrm>
          <a:prstGeom prst="roundRect">
            <a:avLst/>
          </a:prstGeom>
          <a:solidFill>
            <a:srgbClr val="F5EEE8"/>
          </a:solidFill>
          <a:ln w="1524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144768" y="3767328"/>
            <a:ext cx="1691640" cy="310896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CLEANLINESS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44768" y="4133087"/>
            <a:ext cx="45720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2B2B35"/>
                </a:solidFill>
                <a:latin typeface="Microsoft YaHei"/>
              </a:rPr>
              <a:t>代码整洁度与过程控制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4462272"/>
            <a:ext cx="4572000" cy="1143000"/>
          </a:xfrm>
          <a:prstGeom prst="rect">
            <a:avLst/>
          </a:prstGeom>
          <a:noFill/>
        </p:spPr>
        <p:txBody>
          <a:bodyPr wrap="square" lIns="73152" rIns="54864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B2B35"/>
                </a:solidFill>
                <a:latin typeface="Microsoft YaHei"/>
              </a:rPr>
              <a:t>共同业务代码：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2B2B35"/>
                </a:solidFill>
                <a:latin typeface="Microsoft YaHei"/>
              </a:rPr>
              <a:t>parser.py · summary.py · report.py · cli.py · tests/*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B22222"/>
                </a:solidFill>
                <a:latin typeface="Microsoft YaHei"/>
              </a:rPr>
              <a:t>BoardFlow 额外抓到：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2B2B35"/>
                </a:solidFill>
                <a:latin typeface="Microsoft YaHei"/>
              </a:rPr>
              <a:t>B004 越界修改 __init__.py；handoff schema 非法字段；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2B2B35"/>
                </a:solidFill>
                <a:latin typeface="Microsoft YaHei"/>
              </a:rPr>
              <a:t>修复后 scope / handoff / board / hygiene violations 全为 0。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44768" y="5614416"/>
            <a:ext cx="4572000" cy="20116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</a:rPr>
              <a:t>No-board = 代码结果；Full = 代码结果 + 状态继承 + 交接证据 + gate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2012-0245-6B38-6428-104BF67F4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4919F-5D41-FCFD-13F0-BAEE1F0E8AB7}"/>
              </a:ext>
            </a:extLst>
          </p:cNvPr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31CC54-1682-D74F-A9E5-C48D24838336}"/>
              </a:ext>
            </a:extLst>
          </p:cNvPr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DA1D89-3F6C-A767-BA7C-F6B4E7A82E35}"/>
              </a:ext>
            </a:extLst>
          </p:cNvPr>
          <p:cNvSpPr/>
          <p:nvPr/>
        </p:nvSpPr>
        <p:spPr>
          <a:xfrm>
            <a:off x="-6524" y="3000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7DDFA0-18E8-F93D-C3E1-7352491D4A39}"/>
              </a:ext>
            </a:extLst>
          </p:cNvPr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E8EB3-71A4-138B-1FB8-2BEB38E39838}"/>
              </a:ext>
            </a:extLst>
          </p:cNvPr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altLang="en-US" sz="2800" b="1" dirty="0">
                <a:solidFill>
                  <a:srgbClr val="8B0000"/>
                </a:solidFill>
              </a:rPr>
              <a:t>GitHub Reviewer：BoardFlow 的 PR 发布层</a:t>
            </a:r>
          </a:p>
          <a:p>
            <a:endParaRPr lang="zh-CN" alt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FAC54-5B88-8009-1CEF-B1461B098EBD}"/>
              </a:ext>
            </a:extLst>
          </p:cNvPr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DE4133F-86CF-BB8E-DFAD-1A3F21D57603}"/>
              </a:ext>
            </a:extLst>
          </p:cNvPr>
          <p:cNvSpPr/>
          <p:nvPr/>
        </p:nvSpPr>
        <p:spPr>
          <a:xfrm>
            <a:off x="560000" y="3192117"/>
            <a:ext cx="450000" cy="450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26D35-0523-27F2-29C4-DD1E3C555C4B}"/>
              </a:ext>
            </a:extLst>
          </p:cNvPr>
          <p:cNvSpPr txBox="1"/>
          <p:nvPr/>
        </p:nvSpPr>
        <p:spPr>
          <a:xfrm>
            <a:off x="1200000" y="3158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rPr dirty="0" err="1"/>
              <a:t>BoardFlow</a:t>
            </a:r>
            <a:r>
              <a:rPr dirty="0"/>
              <a:t> </a:t>
            </a:r>
            <a:r>
              <a:rPr dirty="0" err="1"/>
              <a:t>协议</a:t>
            </a:r>
            <a:endParaRPr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3B5CFE-DBCC-3099-7258-CBD171E35B7D}"/>
              </a:ext>
            </a:extLst>
          </p:cNvPr>
          <p:cNvSpPr/>
          <p:nvPr/>
        </p:nvSpPr>
        <p:spPr>
          <a:xfrm>
            <a:off x="570000" y="2500000"/>
            <a:ext cx="450000" cy="4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3F12B7-D27C-BFAA-FE87-80077CB320F6}"/>
              </a:ext>
            </a:extLst>
          </p:cNvPr>
          <p:cNvSpPr txBox="1"/>
          <p:nvPr/>
        </p:nvSpPr>
        <p:spPr>
          <a:xfrm>
            <a:off x="542000" y="2527683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A02230-D783-EAFB-0068-12092CC4A914}"/>
              </a:ext>
            </a:extLst>
          </p:cNvPr>
          <p:cNvSpPr txBox="1"/>
          <p:nvPr/>
        </p:nvSpPr>
        <p:spPr>
          <a:xfrm>
            <a:off x="1200000" y="2500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rPr dirty="0"/>
              <a:t>Agent Bridge </a:t>
            </a:r>
            <a:r>
              <a:rPr dirty="0" err="1"/>
              <a:t>机制</a:t>
            </a:r>
            <a:endParaRPr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B32948-BFC2-C884-9D78-2A73456C7E24}"/>
              </a:ext>
            </a:extLst>
          </p:cNvPr>
          <p:cNvSpPr/>
          <p:nvPr/>
        </p:nvSpPr>
        <p:spPr>
          <a:xfrm>
            <a:off x="560000" y="3925000"/>
            <a:ext cx="450000" cy="450000"/>
          </a:xfrm>
          <a:prstGeom prst="ellipse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782F3-BEC8-31DF-AAD3-51BC8CDADFC7}"/>
              </a:ext>
            </a:extLst>
          </p:cNvPr>
          <p:cNvSpPr txBox="1"/>
          <p:nvPr/>
        </p:nvSpPr>
        <p:spPr>
          <a:xfrm>
            <a:off x="542000" y="3206909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3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CAF7E1-FCE1-C4A9-D3B9-9AC102BF9470}"/>
              </a:ext>
            </a:extLst>
          </p:cNvPr>
          <p:cNvSpPr/>
          <p:nvPr/>
        </p:nvSpPr>
        <p:spPr>
          <a:xfrm>
            <a:off x="560000" y="1750000"/>
            <a:ext cx="450000" cy="45000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0EF3B6-D575-EAF7-2F98-6EADA8E9D0BC}"/>
              </a:ext>
            </a:extLst>
          </p:cNvPr>
          <p:cNvSpPr txBox="1"/>
          <p:nvPr/>
        </p:nvSpPr>
        <p:spPr>
          <a:xfrm>
            <a:off x="1200000" y="3900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7C3D"/>
                </a:solidFill>
                <a:latin typeface="Microsoft YaHei"/>
              </a:defRPr>
            </a:pPr>
            <a:r>
              <a:rPr dirty="0"/>
              <a:t>Code Health Review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658FA-4DAD-182F-F4E7-F33026700FF0}"/>
              </a:ext>
            </a:extLst>
          </p:cNvPr>
          <p:cNvSpPr txBox="1"/>
          <p:nvPr/>
        </p:nvSpPr>
        <p:spPr>
          <a:xfrm>
            <a:off x="565317" y="3954584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036D1D-4084-47E3-6983-5B2EC934CD18}"/>
              </a:ext>
            </a:extLst>
          </p:cNvPr>
          <p:cNvSpPr txBox="1"/>
          <p:nvPr/>
        </p:nvSpPr>
        <p:spPr>
          <a:xfrm>
            <a:off x="1200000" y="1730786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7B2D8E"/>
                </a:solidFill>
                <a:latin typeface="Microsoft YaHei"/>
              </a:defRPr>
            </a:pPr>
            <a:r>
              <a:rPr lang="en-US" altLang="zh-CN" dirty="0"/>
              <a:t>Repo</a:t>
            </a:r>
            <a:r>
              <a:rPr lang="zh-CN" altLang="en-US" dirty="0"/>
              <a:t>脚手架结构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14224E-8AA1-3B72-4297-C47FC4A2CCED}"/>
              </a:ext>
            </a:extLst>
          </p:cNvPr>
          <p:cNvSpPr txBox="1"/>
          <p:nvPr/>
        </p:nvSpPr>
        <p:spPr>
          <a:xfrm>
            <a:off x="370000" y="4700000"/>
            <a:ext cx="1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8B0000"/>
                </a:solidFill>
                <a:latin typeface="Microsoft YaHei"/>
              </a:defRPr>
            </a:pPr>
            <a:r>
              <a:t>▎未来工作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3EFB37-3CEE-2AD0-60E9-AE2138C029BD}"/>
              </a:ext>
            </a:extLst>
          </p:cNvPr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14 / 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6CE220-E9BE-1224-A446-63C9062BFB1C}"/>
              </a:ext>
            </a:extLst>
          </p:cNvPr>
          <p:cNvSpPr txBox="1"/>
          <p:nvPr/>
        </p:nvSpPr>
        <p:spPr>
          <a:xfrm>
            <a:off x="570000" y="1800000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1</a:t>
            </a:r>
          </a:p>
        </p:txBody>
      </p:sp>
      <p:sp>
        <p:nvSpPr>
          <p:cNvPr id="40" name="Reviewer subtitle"/>
          <p:cNvSpPr txBox="1"/>
          <p:nvPr/>
        </p:nvSpPr>
        <p:spPr>
          <a:xfrm>
            <a:off x="3127248" y="1060704"/>
            <a:ext cx="818388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70000" tIns="45000" rIns="70000" bIns="45000" rtlCol="0" anchor="t"/>
          <a:lstStyle/>
          <a:p>
            <a:pPr algn="l"/>
            <a:r>
              <a:rPr lang="zh-CN" altLang="en-US" sz="1250" dirty="0">
                <a:solidFill>
                  <a:srgbClr val="333333"/>
                </a:solidFill>
              </a:rPr>
              <a:t>把 agent 的代码、证据和风险转换成团队可审查的 PR 信号</a:t>
            </a:r>
          </a:p>
          <a:p>
            <a:endParaRPr lang="zh-CN" altLang="en-US" sz="1250" dirty="0"/>
          </a:p>
        </p:txBody>
      </p:sp>
      <p:sp>
        <p:nvSpPr>
          <p:cNvPr id="41" name="Flow Agent"/>
          <p:cNvSpPr txBox="1"/>
          <p:nvPr/>
        </p:nvSpPr>
        <p:spPr>
          <a:xfrm>
            <a:off x="3127248" y="1572768"/>
            <a:ext cx="1316736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9A2A"/>
            </a:solidFill>
          </a:ln>
        </p:spPr>
        <p:txBody>
          <a:bodyPr wrap="square" lIns="70000" tIns="45000" rIns="70000" bIns="45000" rtlCol="0" anchor="ctr"/>
          <a:lstStyle/>
          <a:p>
            <a:pPr algn="ctr"/>
            <a:r>
              <a:rPr lang="zh-CN" altLang="en-US" sz="1600" b="1" dirty="0">
                <a:solidFill>
                  <a:srgbClr val="111111"/>
                </a:solidFill>
              </a:rPr>
              <a:t>Agent</a:t>
            </a:r>
          </a:p>
          <a:p>
            <a:pPr algn="ctr"/>
            <a:r>
              <a:rPr lang="zh-CN" altLang="en-US" sz="1050" dirty="0">
                <a:solidFill>
                  <a:srgbClr val="111111"/>
                </a:solidFill>
              </a:rPr>
              <a:t>Coding</a:t>
            </a:r>
          </a:p>
        </p:txBody>
      </p:sp>
      <p:sp>
        <p:nvSpPr>
          <p:cNvPr id="42" name="Arrow 1"/>
          <p:cNvSpPr txBox="1"/>
          <p:nvPr/>
        </p:nvSpPr>
        <p:spPr>
          <a:xfrm>
            <a:off x="4498848" y="1737360"/>
            <a:ext cx="301752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70000" tIns="45000" rIns="70000" bIns="45000" rtlCol="0" anchor="t"/>
          <a:lstStyle/>
          <a:p>
            <a:pPr algn="ctr"/>
            <a:r>
              <a:rPr lang="zh-CN" altLang="en-US" sz="1700" b="1" dirty="0">
                <a:solidFill>
                  <a:srgbClr val="8B0000"/>
                </a:solidFill>
              </a:rPr>
              <a:t>→</a:t>
            </a:r>
          </a:p>
          <a:p>
            <a:endParaRPr lang="zh-CN" altLang="en-US" sz="1100" dirty="0"/>
          </a:p>
        </p:txBody>
      </p:sp>
      <p:sp>
        <p:nvSpPr>
          <p:cNvPr id="43" name="Flow Evidence"/>
          <p:cNvSpPr txBox="1"/>
          <p:nvPr/>
        </p:nvSpPr>
        <p:spPr>
          <a:xfrm>
            <a:off x="4892040" y="1572768"/>
            <a:ext cx="1316736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9A2A"/>
            </a:solidFill>
          </a:ln>
        </p:spPr>
        <p:txBody>
          <a:bodyPr wrap="square" lIns="70000" tIns="45000" rIns="70000" bIns="45000" rtlCol="0" anchor="ctr"/>
          <a:lstStyle/>
          <a:p>
            <a:pPr algn="ctr"/>
            <a:r>
              <a:rPr lang="zh-CN" altLang="en-US" sz="1600" b="1" dirty="0">
                <a:solidFill>
                  <a:srgbClr val="111111"/>
                </a:solidFill>
              </a:rPr>
              <a:t>Evidence</a:t>
            </a:r>
          </a:p>
          <a:p>
            <a:pPr algn="ctr"/>
            <a:r>
              <a:rPr lang="zh-CN" altLang="en-US" sz="1050" dirty="0">
                <a:solidFill>
                  <a:srgbClr val="111111"/>
                </a:solidFill>
              </a:rPr>
              <a:t>Board · Handoff · Tests</a:t>
            </a:r>
          </a:p>
        </p:txBody>
      </p:sp>
      <p:sp>
        <p:nvSpPr>
          <p:cNvPr id="44" name="Arrow 2"/>
          <p:cNvSpPr txBox="1"/>
          <p:nvPr/>
        </p:nvSpPr>
        <p:spPr>
          <a:xfrm>
            <a:off x="6263640" y="1737360"/>
            <a:ext cx="301752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70000" tIns="45000" rIns="70000" bIns="45000" rtlCol="0" anchor="t"/>
          <a:lstStyle/>
          <a:p>
            <a:pPr algn="ctr"/>
            <a:r>
              <a:rPr lang="zh-CN" altLang="en-US" sz="1700" b="1" dirty="0">
                <a:solidFill>
                  <a:srgbClr val="8B0000"/>
                </a:solidFill>
              </a:rPr>
              <a:t>→</a:t>
            </a:r>
          </a:p>
          <a:p>
            <a:endParaRPr lang="zh-CN" altLang="en-US" sz="1100" dirty="0"/>
          </a:p>
        </p:txBody>
      </p:sp>
      <p:sp>
        <p:nvSpPr>
          <p:cNvPr id="45" name="Flow Gate"/>
          <p:cNvSpPr txBox="1"/>
          <p:nvPr/>
        </p:nvSpPr>
        <p:spPr>
          <a:xfrm>
            <a:off x="6656832" y="1572768"/>
            <a:ext cx="1316736" cy="676656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</a:ln>
        </p:spPr>
        <p:txBody>
          <a:bodyPr wrap="square" lIns="70000" tIns="45000" rIns="70000" bIns="45000" rtlCol="0" anchor="ctr"/>
          <a:lstStyle/>
          <a:p>
            <a:pPr algn="ctr"/>
            <a:r>
              <a:rPr lang="zh-CN" altLang="en-US" sz="1600" b="1" dirty="0">
                <a:solidFill>
                  <a:srgbClr val="FFFFFF"/>
                </a:solidFill>
              </a:rPr>
              <a:t>Gate</a:t>
            </a:r>
          </a:p>
          <a:p>
            <a:pPr algn="ctr"/>
            <a:r>
              <a:rPr lang="zh-CN" altLang="en-US" sz="1050" dirty="0">
                <a:solidFill>
                  <a:srgbClr val="FFFFFF"/>
                </a:solidFill>
              </a:rPr>
              <a:t>Deterministic</a:t>
            </a:r>
          </a:p>
        </p:txBody>
      </p:sp>
      <p:sp>
        <p:nvSpPr>
          <p:cNvPr id="46" name="Arrow 3"/>
          <p:cNvSpPr txBox="1"/>
          <p:nvPr/>
        </p:nvSpPr>
        <p:spPr>
          <a:xfrm>
            <a:off x="8028432" y="1737360"/>
            <a:ext cx="301752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70000" tIns="45000" rIns="70000" bIns="45000" rtlCol="0" anchor="t"/>
          <a:lstStyle/>
          <a:p>
            <a:pPr algn="ctr"/>
            <a:r>
              <a:rPr lang="zh-CN" altLang="en-US" sz="1700" b="1" dirty="0">
                <a:solidFill>
                  <a:srgbClr val="8B0000"/>
                </a:solidFill>
              </a:rPr>
              <a:t>→</a:t>
            </a:r>
          </a:p>
          <a:p>
            <a:endParaRPr lang="zh-CN" altLang="en-US" sz="1100" dirty="0"/>
          </a:p>
        </p:txBody>
      </p:sp>
      <p:sp>
        <p:nvSpPr>
          <p:cNvPr id="47" name="Flow PR Review"/>
          <p:cNvSpPr txBox="1"/>
          <p:nvPr/>
        </p:nvSpPr>
        <p:spPr>
          <a:xfrm>
            <a:off x="8421624" y="1572768"/>
            <a:ext cx="1316736" cy="676656"/>
          </a:xfrm>
          <a:prstGeom prst="roundRect">
            <a:avLst/>
          </a:prstGeom>
          <a:solidFill>
            <a:srgbClr val="F6ECE8"/>
          </a:solidFill>
          <a:ln w="12700">
            <a:solidFill>
              <a:srgbClr val="8B0000"/>
            </a:solidFill>
          </a:ln>
        </p:spPr>
        <p:txBody>
          <a:bodyPr wrap="square" lIns="70000" tIns="45000" rIns="70000" bIns="45000" rtlCol="0" anchor="ctr"/>
          <a:lstStyle/>
          <a:p>
            <a:pPr algn="ctr"/>
            <a:r>
              <a:rPr lang="zh-CN" altLang="en-US" sz="1600" b="1" dirty="0">
                <a:solidFill>
                  <a:srgbClr val="111111"/>
                </a:solidFill>
              </a:rPr>
              <a:t>PR Review</a:t>
            </a:r>
          </a:p>
          <a:p>
            <a:pPr algn="ctr"/>
            <a:r>
              <a:rPr lang="zh-CN" altLang="en-US" sz="1050" dirty="0">
                <a:solidFill>
                  <a:srgbClr val="111111"/>
                </a:solidFill>
              </a:rPr>
              <a:t>GitHub layer</a:t>
            </a:r>
          </a:p>
        </p:txBody>
      </p:sp>
      <p:sp>
        <p:nvSpPr>
          <p:cNvPr id="48" name="Arrow 4"/>
          <p:cNvSpPr txBox="1"/>
          <p:nvPr/>
        </p:nvSpPr>
        <p:spPr>
          <a:xfrm>
            <a:off x="9793224" y="1737360"/>
            <a:ext cx="301752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70000" tIns="45000" rIns="70000" bIns="45000" rtlCol="0" anchor="t"/>
          <a:lstStyle/>
          <a:p>
            <a:pPr algn="ctr"/>
            <a:r>
              <a:rPr lang="zh-CN" altLang="en-US" sz="1700" b="1" dirty="0">
                <a:solidFill>
                  <a:srgbClr val="8B0000"/>
                </a:solidFill>
              </a:rPr>
              <a:t>→</a:t>
            </a:r>
          </a:p>
          <a:p>
            <a:endParaRPr lang="zh-CN" altLang="en-US" sz="1100" dirty="0"/>
          </a:p>
        </p:txBody>
      </p:sp>
      <p:sp>
        <p:nvSpPr>
          <p:cNvPr id="49" name="Flow Human"/>
          <p:cNvSpPr txBox="1"/>
          <p:nvPr/>
        </p:nvSpPr>
        <p:spPr>
          <a:xfrm>
            <a:off x="10186416" y="1572768"/>
            <a:ext cx="1316736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9A2A"/>
            </a:solidFill>
          </a:ln>
        </p:spPr>
        <p:txBody>
          <a:bodyPr wrap="square" lIns="70000" tIns="45000" rIns="70000" bIns="45000" rtlCol="0" anchor="ctr"/>
          <a:lstStyle/>
          <a:p>
            <a:pPr algn="ctr"/>
            <a:r>
              <a:rPr lang="zh-CN" altLang="en-US" sz="1600" b="1" dirty="0">
                <a:solidFill>
                  <a:srgbClr val="111111"/>
                </a:solidFill>
              </a:rPr>
              <a:t>Human</a:t>
            </a:r>
          </a:p>
          <a:p>
            <a:pPr algn="ctr"/>
            <a:r>
              <a:rPr lang="zh-CN" altLang="en-US" sz="1050" dirty="0">
                <a:solidFill>
                  <a:srgbClr val="111111"/>
                </a:solidFill>
              </a:rPr>
              <a:t>Merge decision</a:t>
            </a:r>
          </a:p>
        </p:txBody>
      </p:sp>
      <p:sp>
        <p:nvSpPr>
          <p:cNvPr id="60" name="Card CI Gate"/>
          <p:cNvSpPr txBox="1"/>
          <p:nvPr/>
        </p:nvSpPr>
        <p:spPr>
          <a:xfrm>
            <a:off x="3246120" y="2907792"/>
            <a:ext cx="245059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CFC7"/>
            </a:solidFill>
          </a:ln>
        </p:spPr>
        <p:txBody>
          <a:bodyPr wrap="square" lIns="100000" tIns="65000" rIns="100000" bIns="65000" rtlCol="0" anchor="t"/>
          <a:lstStyle/>
          <a:p>
            <a:pPr algn="l"/>
            <a:r>
              <a:rPr lang="zh-CN" altLang="en-US" sz="2400" b="1" dirty="0">
                <a:solidFill>
                  <a:srgbClr val="8B0000"/>
                </a:solidFill>
              </a:rPr>
              <a:t>CI Gate</a:t>
            </a:r>
          </a:p>
          <a:p>
            <a:pPr algn="l"/>
            <a:r>
              <a:rPr lang="zh-CN" altLang="en-US" sz="1400" dirty="0">
                <a:solidFill>
                  <a:srgbClr val="222222"/>
                </a:solidFill>
              </a:rPr>
              <a:t>tests / lint / scorer</a:t>
            </a:r>
          </a:p>
          <a:p>
            <a:pPr algn="l"/>
            <a:r>
              <a:rPr lang="zh-CN" altLang="en-US" sz="1400" dirty="0">
                <a:solidFill>
                  <a:srgbClr val="222222"/>
                </a:solidFill>
              </a:rPr>
              <a:t>board sync check</a:t>
            </a:r>
          </a:p>
          <a:p>
            <a:pPr algn="l"/>
            <a:r>
              <a:rPr lang="zh-CN" altLang="en-US" sz="1400" dirty="0">
                <a:solidFill>
                  <a:srgbClr val="222222"/>
                </a:solidFill>
              </a:rPr>
              <a:t>handoff validity check</a:t>
            </a:r>
          </a:p>
          <a:p>
            <a:endParaRPr lang="zh-CN" altLang="en-US" sz="1400" dirty="0"/>
          </a:p>
        </p:txBody>
      </p:sp>
      <p:sp>
        <p:nvSpPr>
          <p:cNvPr id="61" name="Card reviewdog"/>
          <p:cNvSpPr txBox="1"/>
          <p:nvPr/>
        </p:nvSpPr>
        <p:spPr>
          <a:xfrm>
            <a:off x="5870448" y="2907792"/>
            <a:ext cx="245059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CFC7"/>
            </a:solidFill>
          </a:ln>
        </p:spPr>
        <p:txBody>
          <a:bodyPr wrap="square" lIns="100000" tIns="65000" rIns="100000" bIns="65000" rtlCol="0" anchor="t"/>
          <a:lstStyle/>
          <a:p>
            <a:pPr algn="l"/>
            <a:r>
              <a:rPr lang="zh-CN" altLang="en-US" sz="2400" b="1" dirty="0">
                <a:solidFill>
                  <a:srgbClr val="1A56DB"/>
                </a:solidFill>
              </a:rPr>
              <a:t>reviewdog</a:t>
            </a:r>
          </a:p>
          <a:p>
            <a:pPr algn="l"/>
            <a:r>
              <a:rPr lang="zh-CN" altLang="en-US" sz="1400" dirty="0">
                <a:solidFill>
                  <a:srgbClr val="222222"/>
                </a:solidFill>
              </a:rPr>
              <a:t>lint / type / security</a:t>
            </a:r>
          </a:p>
          <a:p>
            <a:pPr algn="l"/>
            <a:r>
              <a:rPr lang="zh-CN" altLang="en-US" sz="1400" dirty="0">
                <a:solidFill>
                  <a:srgbClr val="222222"/>
                </a:solidFill>
              </a:rPr>
              <a:t>转换成 PR comments</a:t>
            </a:r>
          </a:p>
          <a:p>
            <a:pPr algn="l"/>
            <a:r>
              <a:rPr lang="zh-CN" altLang="en-US" sz="1400" dirty="0">
                <a:solidFill>
                  <a:srgbClr val="222222"/>
                </a:solidFill>
              </a:rPr>
              <a:t>定位到具体 diff 行</a:t>
            </a:r>
          </a:p>
          <a:p>
            <a:endParaRPr lang="zh-CN" altLang="en-US" sz="1400" dirty="0"/>
          </a:p>
        </p:txBody>
      </p:sp>
      <p:sp>
        <p:nvSpPr>
          <p:cNvPr id="62" name="Card Independent Reviewer"/>
          <p:cNvSpPr txBox="1"/>
          <p:nvPr/>
        </p:nvSpPr>
        <p:spPr>
          <a:xfrm>
            <a:off x="8494776" y="2907792"/>
            <a:ext cx="245059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CFC7"/>
            </a:solidFill>
          </a:ln>
        </p:spPr>
        <p:txBody>
          <a:bodyPr wrap="square" lIns="100000" tIns="65000" rIns="100000" bIns="65000" rtlCol="0" anchor="t"/>
          <a:lstStyle/>
          <a:p>
            <a:pPr algn="l"/>
            <a:r>
              <a:rPr lang="zh-CN" altLang="en-US" sz="2000" b="1" dirty="0">
                <a:solidFill>
                  <a:srgbClr val="0D7C3D"/>
                </a:solidFill>
              </a:rPr>
              <a:t>Independent Reviewer</a:t>
            </a:r>
          </a:p>
          <a:p>
            <a:pPr algn="l"/>
            <a:r>
              <a:rPr lang="zh-CN" altLang="en-US" sz="1200" dirty="0">
                <a:solidFill>
                  <a:srgbClr val="222222"/>
                </a:solidFill>
              </a:rPr>
              <a:t>只读复审</a:t>
            </a:r>
          </a:p>
          <a:p>
            <a:pPr algn="l"/>
            <a:r>
              <a:rPr lang="zh-CN" altLang="en-US" sz="1200" dirty="0">
                <a:solidFill>
                  <a:srgbClr val="222222"/>
                </a:solidFill>
              </a:rPr>
              <a:t>scope drift / 测试缺口 / 风险</a:t>
            </a:r>
          </a:p>
          <a:p>
            <a:pPr algn="l"/>
            <a:r>
              <a:rPr lang="zh-CN" altLang="en-US" sz="1200" dirty="0">
                <a:solidFill>
                  <a:srgbClr val="222222"/>
                </a:solidFill>
              </a:rPr>
              <a:t>不修改代码，不替代 gate</a:t>
            </a:r>
          </a:p>
          <a:p>
            <a:endParaRPr lang="zh-CN" altLang="en-US" sz="1000" dirty="0"/>
          </a:p>
        </p:txBody>
      </p:sp>
      <p:sp>
        <p:nvSpPr>
          <p:cNvPr id="70" name="Reviewer principle"/>
          <p:cNvSpPr txBox="1"/>
          <p:nvPr/>
        </p:nvSpPr>
        <p:spPr>
          <a:xfrm>
            <a:off x="3246120" y="4956048"/>
            <a:ext cx="7699248" cy="530352"/>
          </a:xfrm>
          <a:prstGeom prst="roundRect">
            <a:avLst/>
          </a:prstGeom>
          <a:solidFill>
            <a:srgbClr val="8B0000"/>
          </a:solidFill>
          <a:ln w="12700">
            <a:solidFill>
              <a:srgbClr val="8B0000"/>
            </a:solidFill>
          </a:ln>
        </p:spPr>
        <p:txBody>
          <a:bodyPr wrap="square" lIns="70000" tIns="45000" rIns="70000" bIns="45000"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Agent writes.  Gate verifies.  Reviewer explains.  Human decides.</a:t>
            </a:r>
          </a:p>
        </p:txBody>
      </p:sp>
      <p:sp>
        <p:nvSpPr>
          <p:cNvPr id="59" name="Reviewer signals label"/>
          <p:cNvSpPr txBox="1"/>
          <p:nvPr/>
        </p:nvSpPr>
        <p:spPr>
          <a:xfrm>
            <a:off x="3246120" y="25420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8B0000"/>
                </a:solidFill>
              </a:rPr>
              <a:t>三层 PR Reviewer 信号</a:t>
            </a:r>
          </a:p>
          <a:p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57894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8000"/>
            <a:ext cx="12192000" cy="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6524" y="30000"/>
            <a:ext cx="12192000" cy="685800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000" y="280000"/>
            <a:ext cx="76000" cy="72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280000"/>
            <a:ext cx="108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8B0000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000" y="820000"/>
            <a:ext cx="1800000" cy="22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0000" y="900000"/>
            <a:ext cx="10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000" y="1300000"/>
            <a:ext cx="1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8B0000"/>
                </a:solidFill>
                <a:latin typeface="Microsoft YaHei"/>
              </a:defRPr>
            </a:pPr>
            <a:r>
              <a:t>▎核心贡献</a:t>
            </a:r>
          </a:p>
        </p:txBody>
      </p:sp>
      <p:sp>
        <p:nvSpPr>
          <p:cNvPr id="10" name="Oval 9"/>
          <p:cNvSpPr/>
          <p:nvPr/>
        </p:nvSpPr>
        <p:spPr>
          <a:xfrm>
            <a:off x="560000" y="3192117"/>
            <a:ext cx="450000" cy="4500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0000" y="3158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rPr dirty="0" err="1"/>
              <a:t>BoardFlow</a:t>
            </a:r>
            <a:r>
              <a:rPr dirty="0"/>
              <a:t> </a:t>
            </a:r>
            <a:r>
              <a:rPr dirty="0" err="1"/>
              <a:t>协议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200000" y="3415679"/>
            <a:ext cx="10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400" dirty="0" err="1"/>
              <a:t>设计了基于</a:t>
            </a:r>
            <a:r>
              <a:rPr sz="1400" dirty="0"/>
              <a:t> repo-local shared state </a:t>
            </a:r>
            <a:r>
              <a:rPr sz="1400" dirty="0" err="1"/>
              <a:t>的多</a:t>
            </a:r>
            <a:r>
              <a:rPr sz="1400" dirty="0"/>
              <a:t> Agent </a:t>
            </a:r>
            <a:r>
              <a:rPr sz="1400" dirty="0" err="1"/>
              <a:t>协作协议</a:t>
            </a:r>
            <a:endParaRPr sz="1400" dirty="0"/>
          </a:p>
        </p:txBody>
      </p:sp>
      <p:sp>
        <p:nvSpPr>
          <p:cNvPr id="14" name="Oval 13"/>
          <p:cNvSpPr/>
          <p:nvPr/>
        </p:nvSpPr>
        <p:spPr>
          <a:xfrm>
            <a:off x="570000" y="2500000"/>
            <a:ext cx="450000" cy="4500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000" y="2527683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000" y="2500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Agent Bridge 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2750000"/>
            <a:ext cx="10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400" dirty="0" err="1"/>
              <a:t>实现了</a:t>
            </a:r>
            <a:r>
              <a:rPr sz="1400" dirty="0"/>
              <a:t> task-aware 的 Agent </a:t>
            </a:r>
            <a:r>
              <a:rPr sz="1400" dirty="0" err="1"/>
              <a:t>上下文传递与范围控制系统</a:t>
            </a:r>
            <a:endParaRPr sz="1400" dirty="0"/>
          </a:p>
        </p:txBody>
      </p:sp>
      <p:sp>
        <p:nvSpPr>
          <p:cNvPr id="18" name="Oval 17"/>
          <p:cNvSpPr/>
          <p:nvPr/>
        </p:nvSpPr>
        <p:spPr>
          <a:xfrm>
            <a:off x="560000" y="3925000"/>
            <a:ext cx="450000" cy="450000"/>
          </a:xfrm>
          <a:prstGeom prst="ellipse">
            <a:avLst/>
          </a:prstGeom>
          <a:solidFill>
            <a:srgbClr val="0D7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2000" y="3206909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560000" y="1750000"/>
            <a:ext cx="450000" cy="45000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00000" y="3900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7C3D"/>
                </a:solidFill>
                <a:latin typeface="Microsoft YaHei"/>
              </a:defRPr>
            </a:pPr>
            <a:r>
              <a:rPr dirty="0"/>
              <a:t>Code Health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000" y="4166500"/>
            <a:ext cx="10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400" dirty="0" err="1"/>
              <a:t>构建了</a:t>
            </a:r>
            <a:r>
              <a:rPr sz="1400" dirty="0"/>
              <a:t> Repo-Adaptive </a:t>
            </a:r>
            <a:r>
              <a:rPr sz="1400" dirty="0" err="1"/>
              <a:t>代码健康检测框架，支持风格学习</a:t>
            </a:r>
            <a:endParaRPr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565317" y="3954584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0000" y="1730786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7B2D8E"/>
                </a:solidFill>
                <a:latin typeface="Microsoft YaHei"/>
              </a:defRPr>
            </a:pPr>
            <a:r>
              <a:rPr lang="en-US" altLang="zh-CN" dirty="0"/>
              <a:t>Repo</a:t>
            </a:r>
            <a:r>
              <a:rPr lang="zh-CN" altLang="en-US" dirty="0"/>
              <a:t>脚手架结构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200000" y="2037500"/>
            <a:ext cx="100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rPr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建立了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规范化仓库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coding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结构，让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更专业化工作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0000" y="4700000"/>
            <a:ext cx="11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8B0000"/>
                </a:solidFill>
                <a:latin typeface="Microsoft YaHei"/>
              </a:defRPr>
            </a:pPr>
            <a:r>
              <a:t>▎未来工作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000" y="5070310"/>
            <a:ext cx="110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✦ </a:t>
            </a:r>
            <a:r>
              <a:rPr sz="1400" dirty="0" err="1"/>
              <a:t>更大规模实验</a:t>
            </a:r>
            <a:r>
              <a:rPr sz="1400" dirty="0"/>
              <a:t> — </a:t>
            </a:r>
            <a:r>
              <a:rPr sz="1400" dirty="0" err="1"/>
              <a:t>增加</a:t>
            </a:r>
            <a:r>
              <a:rPr sz="1400" dirty="0"/>
              <a:t> Agent </a:t>
            </a:r>
            <a:r>
              <a:rPr sz="1400" dirty="0" err="1"/>
              <a:t>数量与任务链长度，评估鲁棒性</a:t>
            </a:r>
            <a:endParaRPr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596000" y="5408000"/>
            <a:ext cx="110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✦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自适应性调整脚手架，根据项目分类（如纯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系统，模型训练）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6000" y="5740000"/>
            <a:ext cx="110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✦ Agent </a:t>
            </a:r>
            <a:r>
              <a:rPr sz="1400" dirty="0" err="1"/>
              <a:t>行为分析</a:t>
            </a:r>
            <a:r>
              <a:rPr sz="1400" dirty="0"/>
              <a:t> —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进行可视化分析效果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4586" y="6091000"/>
            <a:ext cx="11000000" cy="2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sz="1400" dirty="0"/>
              <a:t>✦ </a:t>
            </a:r>
            <a:r>
              <a:rPr sz="1400" dirty="0" err="1"/>
              <a:t>与现有基准的对比研究与集成</a:t>
            </a:r>
            <a:endParaRPr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14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000" y="1800000"/>
            <a:ext cx="45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1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66186E1B-75A8-683A-7433-42BAAEDE9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48" y="750098"/>
            <a:ext cx="3986852" cy="53158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92000" y="0"/>
            <a:ext cx="3000000" cy="6858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08000"/>
            <a:ext cx="12192000" cy="50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000" y="1500000"/>
            <a:ext cx="7000000" cy="1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3200000"/>
            <a:ext cx="2400000" cy="2500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000" y="3400000"/>
            <a:ext cx="700000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FFDDDD"/>
                </a:solidFill>
                <a:latin typeface="Microsoft YaHei"/>
              </a:defRPr>
            </a:pPr>
            <a:r>
              <a:rPr lang="en-US" dirty="0" err="1"/>
              <a:t>AgentFlow</a:t>
            </a:r>
            <a:r>
              <a:rPr dirty="0"/>
              <a:t> — </a:t>
            </a:r>
            <a:r>
              <a:rPr dirty="0" err="1"/>
              <a:t>面向</a:t>
            </a:r>
            <a:r>
              <a:rPr dirty="0"/>
              <a:t> Coding Agent </a:t>
            </a:r>
            <a:r>
              <a:rPr dirty="0" err="1"/>
              <a:t>的协作纪律与代码健康评测</a:t>
            </a:r>
            <a:endParaRPr dirty="0"/>
          </a:p>
          <a:p>
            <a:pPr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300"/>
              </a:spcAft>
              <a:defRPr sz="1400" b="0">
                <a:solidFill>
                  <a:srgbClr val="FFCCCC"/>
                </a:solidFill>
                <a:latin typeface="Microsoft YaHei"/>
              </a:defRPr>
            </a:pPr>
            <a:r>
              <a:rPr dirty="0" err="1"/>
              <a:t>大语言模型与信息决策</a:t>
            </a:r>
            <a:r>
              <a:rPr dirty="0"/>
              <a:t> · </a:t>
            </a:r>
            <a:r>
              <a:rPr dirty="0" err="1"/>
              <a:t>课程项目</a:t>
            </a:r>
            <a:endParaRPr dirty="0"/>
          </a:p>
          <a:p>
            <a:pPr>
              <a:spcAft>
                <a:spcPts val="300"/>
              </a:spcAft>
              <a:defRPr sz="1200" b="0">
                <a:solidFill>
                  <a:srgbClr val="FFBBBB"/>
                </a:solidFill>
                <a:latin typeface="Microsoft YaHei"/>
              </a:defRPr>
            </a:pPr>
            <a:r>
              <a:rPr dirty="0"/>
              <a:t>2026 年 6 月</a:t>
            </a:r>
          </a:p>
          <a:p>
            <a:pPr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  <a:endParaRPr dirty="0"/>
          </a:p>
          <a:p>
            <a:pPr>
              <a:spcAft>
                <a:spcPts val="300"/>
              </a:spcAft>
              <a:defRPr sz="1600" b="1">
                <a:solidFill>
                  <a:srgbClr val="C49A2A"/>
                </a:solidFill>
                <a:latin typeface="Microsoft YaHei"/>
              </a:defRPr>
            </a:pPr>
            <a:r>
              <a:rPr dirty="0" err="1"/>
              <a:t>欢迎提问与交流</a:t>
            </a:r>
            <a:r>
              <a:rPr dirty="0"/>
              <a:t> 🤝</a:t>
            </a:r>
          </a:p>
        </p:txBody>
      </p:sp>
      <p:sp>
        <p:nvSpPr>
          <p:cNvPr id="10" name="Oval 9"/>
          <p:cNvSpPr/>
          <p:nvPr/>
        </p:nvSpPr>
        <p:spPr>
          <a:xfrm>
            <a:off x="9500000" y="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0000" y="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500000" y="1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500000" y="1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0000" y="2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0000" y="2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00000" y="3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00000" y="3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0000" y="4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00000" y="4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00000" y="53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00000" y="5800000"/>
            <a:ext cx="60000" cy="60000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00000" y="6500000"/>
            <a:ext cx="12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1857</Words>
  <Application>Microsoft Macintosh PowerPoint</Application>
  <PresentationFormat>宽屏</PresentationFormat>
  <Paragraphs>386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骆春阳</dc:creator>
  <cp:keywords/>
  <dc:description>generated using python-pptx</dc:description>
  <cp:lastModifiedBy>奕好 陈</cp:lastModifiedBy>
  <cp:revision>18</cp:revision>
  <dcterms:created xsi:type="dcterms:W3CDTF">2013-01-27T09:14:16Z</dcterms:created>
  <dcterms:modified xsi:type="dcterms:W3CDTF">2026-06-04T01:34:39Z</dcterms:modified>
  <cp:category/>
</cp:coreProperties>
</file>