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3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73628" autoAdjust="0"/>
  </p:normalViewPr>
  <p:slideViewPr>
    <p:cSldViewPr snapToGrid="0" snapToObjects="1">
      <p:cViewPr varScale="1">
        <p:scale>
          <a:sx n="81" d="100"/>
          <a:sy n="81" d="100"/>
        </p:scale>
        <p:origin x="109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41435-013C-4EC9-B46E-05FD6959ED6A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EF139-3A40-4F43-B73F-4FFD00A72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568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dirty="0"/>
              <a:t> </a:t>
            </a:r>
            <a:r>
              <a:rPr lang="en-US" altLang="zh-CN" sz="1200" dirty="0"/>
              <a:t>Claude Code</a:t>
            </a:r>
            <a:r>
              <a:rPr lang="zh-CN" altLang="en-US" sz="1200" dirty="0"/>
              <a:t>、</a:t>
            </a:r>
            <a:r>
              <a:rPr lang="en-US" altLang="zh-CN" sz="1200" dirty="0"/>
              <a:t>Cursor</a:t>
            </a:r>
            <a:r>
              <a:rPr lang="zh-CN" altLang="en-US" sz="1200" dirty="0"/>
              <a:t>、</a:t>
            </a:r>
            <a:r>
              <a:rPr lang="en-US" altLang="zh-CN" sz="1200" dirty="0"/>
              <a:t>GitHub</a:t>
            </a:r>
            <a:r>
              <a:rPr lang="zh-CN" altLang="en-US" sz="1200" dirty="0"/>
              <a:t> </a:t>
            </a:r>
            <a:r>
              <a:rPr lang="en-US" altLang="zh-CN" sz="1200" dirty="0"/>
              <a:t>Copilot </a:t>
            </a:r>
            <a:r>
              <a:rPr lang="zh-CN" altLang="en-US" sz="1200" dirty="0"/>
              <a:t>等 </a:t>
            </a:r>
            <a:r>
              <a:rPr lang="en-US" altLang="zh-CN" sz="1200" dirty="0"/>
              <a:t>AI Coding Agent </a:t>
            </a:r>
            <a:r>
              <a:rPr lang="zh-CN" altLang="en-US" sz="1200" dirty="0"/>
              <a:t>正在改变软件开发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范式</a:t>
            </a:r>
          </a:p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dirty="0"/>
              <a:t>  能够自主理解需求、规划任务、编辑代码，大幅提升开发效率。</a:t>
            </a:r>
          </a:p>
          <a:p>
            <a:pPr>
              <a:spcAft>
                <a:spcPts val="30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  <a:endParaRPr lang="zh-CN" altLang="en-US" dirty="0"/>
          </a:p>
          <a:p>
            <a:pPr>
              <a:spcAft>
                <a:spcPts val="300"/>
              </a:spcAft>
              <a:defRPr sz="1700" b="1">
                <a:solidFill>
                  <a:srgbClr val="8B0000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▎二、</a:t>
            </a:r>
            <a:r>
              <a:rPr lang="zh-CN" altLang="en-US" dirty="0"/>
              <a:t>多 </a:t>
            </a:r>
            <a:r>
              <a:rPr lang="en-US" altLang="zh-CN" dirty="0"/>
              <a:t>Agent </a:t>
            </a:r>
            <a:r>
              <a:rPr lang="zh-CN" altLang="en-US" dirty="0"/>
              <a:t>顺序协作的「上下文断裂」问题</a:t>
            </a:r>
          </a:p>
          <a:p>
            <a:pPr>
              <a:spcAft>
                <a:spcPts val="3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  <a:endParaRPr lang="zh-CN" altLang="en-US" sz="1200" dirty="0"/>
          </a:p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dirty="0"/>
              <a:t>  在实际项目中，多个 </a:t>
            </a:r>
            <a:r>
              <a:rPr lang="en-US" altLang="zh-CN" sz="1200" dirty="0"/>
              <a:t>Agent </a:t>
            </a:r>
            <a:r>
              <a:rPr lang="zh-CN" altLang="en-US" sz="1200" dirty="0"/>
              <a:t>需要在同一仓库中接力完成任务。</a:t>
            </a:r>
          </a:p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dirty="0"/>
              <a:t>  由于上下文窗口有限，</a:t>
            </a:r>
            <a:r>
              <a:rPr lang="en-US" altLang="zh-CN" sz="1200" dirty="0"/>
              <a:t>Agent</a:t>
            </a:r>
            <a:r>
              <a:rPr lang="zh-CN" altLang="en-US" sz="1200" dirty="0"/>
              <a:t> 之间缺乏有效的信息传递机制：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b="1" dirty="0"/>
              <a:t>    ✦ 上下文丢失 </a:t>
            </a:r>
            <a:r>
              <a:rPr lang="en-US" altLang="zh-CN" sz="1200" b="1" dirty="0"/>
              <a:t>— </a:t>
            </a:r>
            <a:r>
              <a:rPr lang="zh-CN" altLang="en-US" sz="1200" b="1" dirty="0"/>
              <a:t>后续 </a:t>
            </a:r>
            <a:r>
              <a:rPr lang="en-US" altLang="zh-CN" sz="1200" b="1" dirty="0"/>
              <a:t>Agent </a:t>
            </a:r>
            <a:r>
              <a:rPr lang="zh-CN" altLang="en-US" sz="1200" b="1" dirty="0"/>
              <a:t>无法获取前置决策背景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b="1" dirty="0"/>
              <a:t>    ✦ 重复工作 </a:t>
            </a:r>
            <a:r>
              <a:rPr lang="en-US" altLang="zh-CN" sz="1200" b="1" dirty="0"/>
              <a:t>— </a:t>
            </a:r>
            <a:r>
              <a:rPr lang="zh-CN" altLang="en-US" sz="1200" b="1" dirty="0"/>
              <a:t>缺乏共享状态导致重复探索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b="1" dirty="0"/>
              <a:t>    ✦ </a:t>
            </a:r>
            <a:r>
              <a:rPr lang="en-US" altLang="zh-CN" sz="1200" b="1" dirty="0"/>
              <a:t>Scope Drift — Agent </a:t>
            </a:r>
            <a:r>
              <a:rPr lang="zh-CN" altLang="en-US" sz="1200" b="1" dirty="0"/>
              <a:t>容易超出任务范围修改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b="1" dirty="0"/>
              <a:t>    ✦ 交接不完整 </a:t>
            </a:r>
            <a:r>
              <a:rPr lang="en-US" altLang="zh-CN" sz="1200" b="1" dirty="0"/>
              <a:t>— </a:t>
            </a:r>
            <a:r>
              <a:rPr lang="zh-CN" altLang="en-US" sz="1200" b="1" dirty="0"/>
              <a:t>任务交接信息缺失或格式不一致</a:t>
            </a:r>
          </a:p>
          <a:p>
            <a:pPr>
              <a:spcAft>
                <a:spcPts val="30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  <a:endParaRPr lang="zh-CN" altLang="en-US" dirty="0"/>
          </a:p>
          <a:p>
            <a:pPr>
              <a:spcAft>
                <a:spcPts val="300"/>
              </a:spcAft>
              <a:defRPr sz="1700" b="1">
                <a:solidFill>
                  <a:srgbClr val="8B0000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▎三、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CodingAgent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的不可控性</a:t>
            </a:r>
            <a:endParaRPr lang="zh-CN" altLang="en-US" dirty="0"/>
          </a:p>
          <a:p>
            <a:pPr>
              <a:spcAft>
                <a:spcPts val="3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  <a:endParaRPr lang="zh-CN" altLang="en-US" dirty="0"/>
          </a:p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往往会按照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自身的训练偏好和推理习惯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完成任务，而不是严格遵循当前仓库的风格和开发规范。这种不可控性会导致代码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风格漂移、冗余补丁函数增多、结构设计偏离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上下文信息丢失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等问题，从而影响代码库的长期可维护性。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EF139-3A40-4F43-B73F-4FFD00A72C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361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EF139-3A40-4F43-B73F-4FFD00A72C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046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 </a:t>
            </a:r>
            <a:r>
              <a:rPr lang="zh-CN" altLang="en-US" dirty="0"/>
              <a:t>精修</a:t>
            </a:r>
            <a:r>
              <a:rPr lang="en-US" altLang="zh-CN" dirty="0"/>
              <a:t>PPT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EF139-3A40-4F43-B73F-4FFD00A72C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044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确定一下这边的</a:t>
            </a:r>
            <a:r>
              <a:rPr lang="en-US" altLang="zh-CN" dirty="0"/>
              <a:t>search rules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EF139-3A40-4F43-B73F-4FFD00A72C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218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r>
              <a:rPr lang="zh-CN" altLang="en-US" dirty="0"/>
              <a:t>，放</a:t>
            </a:r>
            <a:r>
              <a:rPr lang="en-US" altLang="zh-CN" dirty="0" err="1"/>
              <a:t>search_rules</a:t>
            </a:r>
            <a:r>
              <a:rPr lang="zh-CN" altLang="en-US" dirty="0"/>
              <a:t>和</a:t>
            </a:r>
            <a:r>
              <a:rPr lang="en-US" altLang="zh-CN" dirty="0" err="1"/>
              <a:t>smell_rules</a:t>
            </a:r>
            <a:endParaRPr lang="en-US" altLang="zh-CN" dirty="0"/>
          </a:p>
          <a:p>
            <a:r>
              <a:rPr lang="zh-CN" altLang="en-US" dirty="0"/>
              <a:t>以及上面四层的精修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EF139-3A40-4F43-B73F-4FFD00A72C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73708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svg"/><Relationship Id="rId10" Type="http://schemas.openxmlformats.org/officeDocument/2006/relationships/image" Target="../media/image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92000" y="0"/>
            <a:ext cx="5000000" cy="6858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0000" y="1400000"/>
            <a:ext cx="7000000" cy="1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BoardFlowBench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00000" y="2700000"/>
            <a:ext cx="70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FFDDDD"/>
                </a:solidFill>
                <a:latin typeface="Microsoft YaHei"/>
              </a:defRPr>
            </a:pPr>
            <a:r>
              <a:rPr b="1" dirty="0" err="1"/>
              <a:t>面向</a:t>
            </a:r>
            <a:r>
              <a:rPr b="1" dirty="0"/>
              <a:t> Coding Agent </a:t>
            </a:r>
            <a:r>
              <a:rPr b="1" dirty="0" err="1"/>
              <a:t>的协作纪律与代码健康评测</a:t>
            </a:r>
            <a:endParaRPr b="1" dirty="0"/>
          </a:p>
        </p:txBody>
      </p:sp>
      <p:sp>
        <p:nvSpPr>
          <p:cNvPr id="7" name="Rectangle 6"/>
          <p:cNvSpPr/>
          <p:nvPr/>
        </p:nvSpPr>
        <p:spPr>
          <a:xfrm>
            <a:off x="800000" y="3600000"/>
            <a:ext cx="2400000" cy="25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000" y="3800000"/>
            <a:ext cx="6000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FFDDDD"/>
                </a:solidFill>
                <a:latin typeface="Microsoft YaHei"/>
              </a:defRPr>
            </a:pPr>
            <a:r>
              <a:rPr dirty="0" err="1"/>
              <a:t>大语言模型与信息决策</a:t>
            </a:r>
            <a:r>
              <a:rPr dirty="0"/>
              <a:t> · </a:t>
            </a:r>
            <a:r>
              <a:rPr dirty="0" err="1"/>
              <a:t>课程项目汇报</a:t>
            </a:r>
            <a:endParaRPr dirty="0"/>
          </a:p>
          <a:p>
            <a:pPr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Aft>
                <a:spcPts val="300"/>
              </a:spcAft>
              <a:defRPr sz="1300" b="0">
                <a:solidFill>
                  <a:srgbClr val="FFCCCC"/>
                </a:solidFill>
                <a:latin typeface="Microsoft YaHei"/>
              </a:defRPr>
            </a:pPr>
            <a:r>
              <a:rPr dirty="0"/>
              <a:t>2026 年 6 月</a:t>
            </a:r>
            <a:endParaRPr lang="en-US" dirty="0"/>
          </a:p>
          <a:p>
            <a:pPr>
              <a:spcAft>
                <a:spcPts val="300"/>
              </a:spcAft>
              <a:defRPr sz="1300" b="0">
                <a:solidFill>
                  <a:srgbClr val="FFCCCC"/>
                </a:solidFill>
                <a:latin typeface="Microsoft YaHei"/>
              </a:defRPr>
            </a:pPr>
            <a:endParaRPr lang="en-AE" dirty="0"/>
          </a:p>
          <a:p>
            <a:pPr>
              <a:spcAft>
                <a:spcPts val="300"/>
              </a:spcAft>
              <a:defRPr sz="1300" b="0">
                <a:solidFill>
                  <a:srgbClr val="FFCCCC"/>
                </a:solidFill>
                <a:latin typeface="Microsoft YaHei"/>
              </a:defRPr>
            </a:pPr>
            <a:r>
              <a:rPr lang="zh-CN" altLang="en-US" sz="2400" b="1" dirty="0">
                <a:latin typeface="+mn-ea"/>
              </a:rPr>
              <a:t>骆春阳 陈奕好</a:t>
            </a:r>
            <a:endParaRPr sz="2400" b="1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00000" y="1500000"/>
            <a:ext cx="4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49A2A"/>
                </a:solidFill>
                <a:latin typeface="Microsoft YaHei"/>
              </a:defRPr>
            </a:pPr>
            <a:r>
              <a:rPr dirty="0"/>
              <a:t>📋  </a:t>
            </a:r>
            <a:r>
              <a:rPr dirty="0" err="1"/>
              <a:t>BoardFlow</a:t>
            </a:r>
            <a:r>
              <a:rPr dirty="0"/>
              <a:t> </a:t>
            </a:r>
            <a:r>
              <a:rPr dirty="0" err="1"/>
              <a:t>协议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000000" y="1850000"/>
            <a:ext cx="3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DDDD"/>
                </a:solidFill>
                <a:latin typeface="Microsoft YaHei"/>
              </a:defRPr>
            </a:pPr>
            <a:r>
              <a:rPr sz="2000" dirty="0" err="1"/>
              <a:t>任务看板驱动</a:t>
            </a:r>
            <a:endParaRPr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7800000" y="2450000"/>
            <a:ext cx="4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49A2A"/>
                </a:solidFill>
                <a:latin typeface="Microsoft YaHei"/>
              </a:defRPr>
            </a:pPr>
            <a:r>
              <a:t>🔗  Agent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0" y="2800000"/>
            <a:ext cx="3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DDDD"/>
                </a:solidFill>
                <a:latin typeface="Microsoft YaHei"/>
              </a:defRPr>
            </a:pPr>
            <a:r>
              <a:rPr sz="2000" dirty="0" err="1"/>
              <a:t>智能交接机制</a:t>
            </a:r>
            <a:endParaRPr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7800000" y="3400000"/>
            <a:ext cx="4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49A2A"/>
                </a:solidFill>
                <a:latin typeface="Microsoft YaHei"/>
              </a:defRPr>
            </a:pPr>
            <a:r>
              <a:t>🔍  Code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000" y="3750000"/>
            <a:ext cx="3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DDDD"/>
                </a:solidFill>
                <a:latin typeface="Microsoft YaHei"/>
              </a:defRPr>
            </a:pPr>
            <a:r>
              <a:rPr sz="2000" dirty="0" err="1"/>
              <a:t>代码健康审查</a:t>
            </a:r>
            <a:endParaRPr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7800000" y="4350000"/>
            <a:ext cx="4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49A2A"/>
                </a:solidFill>
                <a:latin typeface="Microsoft YaHei"/>
              </a:defRPr>
            </a:pPr>
            <a:r>
              <a:rPr dirty="0"/>
              <a:t>📊 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000" y="4700000"/>
            <a:ext cx="3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DDDD"/>
                </a:solidFill>
                <a:latin typeface="Microsoft YaHei"/>
              </a:defRPr>
            </a:pPr>
            <a:r>
              <a:rPr sz="2000" dirty="0" err="1"/>
              <a:t>多维量化评测</a:t>
            </a:r>
            <a:endParaRPr sz="2000" dirty="0"/>
          </a:p>
        </p:txBody>
      </p:sp>
      <p:sp>
        <p:nvSpPr>
          <p:cNvPr id="17" name="Rectangle 16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0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6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4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12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60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08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56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04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2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00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48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96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4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92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40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88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36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84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32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80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28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76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24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72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50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8B0000"/>
                </a:solidFill>
                <a:latin typeface="Microsoft YaHei"/>
              </a:defRPr>
            </a:pPr>
            <a:r>
              <a:t>目录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1050000"/>
            <a:ext cx="1500000" cy="25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0000" y="1500000"/>
            <a:ext cx="5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1453500"/>
            <a:ext cx="4800000" cy="675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选题背景与研究动机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150000" y="1820000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Why </a:t>
            </a:r>
            <a:r>
              <a:rPr dirty="0" err="1"/>
              <a:t>BoardFlowBench</a:t>
            </a:r>
            <a:r>
              <a:rPr dirty="0"/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300000"/>
            <a:ext cx="5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000" y="2261500"/>
            <a:ext cx="48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问题设定与核心挑战</a:t>
            </a:r>
            <a:endParaRPr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1150000" y="2620000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Problem Formulation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3100000"/>
            <a:ext cx="5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000" y="3076000"/>
            <a:ext cx="48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系统架构设计</a:t>
            </a:r>
            <a:endParaRPr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1150000" y="3420000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System Architecture — </a:t>
            </a:r>
            <a:r>
              <a:rPr dirty="0" err="1"/>
              <a:t>流程图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00000" y="3900000"/>
            <a:ext cx="5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0000" y="3900000"/>
            <a:ext cx="48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sz="2000" dirty="0"/>
              <a:t>Agent </a:t>
            </a:r>
            <a:r>
              <a:rPr sz="2000" dirty="0" err="1"/>
              <a:t>交接流程</a:t>
            </a:r>
            <a:endParaRPr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1150000" y="4220000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Handoff Flow — </a:t>
            </a:r>
            <a:r>
              <a:rPr dirty="0" err="1"/>
              <a:t>看板驱动协作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00000" y="4700000"/>
            <a:ext cx="5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000" y="4648876"/>
            <a:ext cx="48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代码健康审查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自适应规则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50000" y="5020000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Code Health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000" y="5500000"/>
            <a:ext cx="5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0000" y="5500000"/>
            <a:ext cx="48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评分体系与</a:t>
            </a:r>
            <a:r>
              <a:rPr sz="2000" dirty="0"/>
              <a:t>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0000" y="5820000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Multi-Dimensional Scoring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0000" y="3420000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6300000" y="1407676"/>
            <a:ext cx="550000" cy="3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0000" y="1308000"/>
            <a:ext cx="48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现场演示与案例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50000" y="1646000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Live Demo — 90 秒闭环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000" y="2067152"/>
            <a:ext cx="550000" cy="793007"/>
          </a:xfrm>
          <a:prstGeom prst="rect">
            <a:avLst/>
          </a:prstGeom>
          <a:noFill/>
        </p:spPr>
        <p:txBody>
          <a:bodyPr wrap="square"/>
          <a:lstStyle/>
          <a:p>
            <a: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50000" y="2000000"/>
            <a:ext cx="48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总结与展望</a:t>
            </a:r>
            <a:endParaRPr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6950000" y="2411993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Summary &amp; Future 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rPr dirty="0" err="1"/>
              <a:t>选题背景与研究动机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12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Why BoardFlowBench?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00" y="1200000"/>
            <a:ext cx="72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8B0000"/>
                </a:solidFill>
                <a:latin typeface="Microsoft YaHei"/>
              </a:defRPr>
            </a:pP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3 / 14</a:t>
            </a:r>
          </a:p>
        </p:txBody>
      </p:sp>
      <p:pic>
        <p:nvPicPr>
          <p:cNvPr id="21" name="图形 20" descr="头上的大脑 纯色填充">
            <a:extLst>
              <a:ext uri="{FF2B5EF4-FFF2-40B4-BE49-F238E27FC236}">
                <a16:creationId xmlns:a16="http://schemas.microsoft.com/office/drawing/2014/main" id="{A859A09C-4D07-BDCE-68D9-ABEDE2EA0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6123" y="977402"/>
            <a:ext cx="1280326" cy="128032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C73ADE0-67F6-BE5B-2FA7-85BD13905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969" y="1353888"/>
            <a:ext cx="950061" cy="926603"/>
          </a:xfrm>
          <a:prstGeom prst="rect">
            <a:avLst/>
          </a:prstGeom>
        </p:spPr>
      </p:pic>
      <p:pic>
        <p:nvPicPr>
          <p:cNvPr id="25" name="图形 24" descr="连接 纯色填充">
            <a:extLst>
              <a:ext uri="{FF2B5EF4-FFF2-40B4-BE49-F238E27FC236}">
                <a16:creationId xmlns:a16="http://schemas.microsoft.com/office/drawing/2014/main" id="{58F16C66-F118-8A08-4B55-D04BA268B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2776" y="2600664"/>
            <a:ext cx="1947465" cy="1947465"/>
          </a:xfrm>
          <a:prstGeom prst="rect">
            <a:avLst/>
          </a:prstGeom>
        </p:spPr>
      </p:pic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12BB4EB-6C2C-7883-E229-5D2697490BFC}"/>
              </a:ext>
            </a:extLst>
          </p:cNvPr>
          <p:cNvSpPr/>
          <p:nvPr/>
        </p:nvSpPr>
        <p:spPr>
          <a:xfrm>
            <a:off x="560000" y="1300000"/>
            <a:ext cx="4808159" cy="115405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大模型驱动的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Coding Agent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浪潮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94D0D9E2-B8FA-671B-3FDE-D15D4DC94E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9289" y="1284291"/>
            <a:ext cx="1027306" cy="1016259"/>
          </a:xfrm>
          <a:prstGeom prst="rect">
            <a:avLst/>
          </a:prstGeom>
        </p:spPr>
      </p:pic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C53231F-7C0F-C18E-D6C3-F5C6427B95ED}"/>
              </a:ext>
            </a:extLst>
          </p:cNvPr>
          <p:cNvSpPr/>
          <p:nvPr/>
        </p:nvSpPr>
        <p:spPr>
          <a:xfrm>
            <a:off x="560000" y="3049871"/>
            <a:ext cx="4808159" cy="115405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顺序协作的信息传递问题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86D05C0-DB6E-4685-99D4-FD80DF7739D7}"/>
              </a:ext>
            </a:extLst>
          </p:cNvPr>
          <p:cNvSpPr/>
          <p:nvPr/>
        </p:nvSpPr>
        <p:spPr>
          <a:xfrm>
            <a:off x="559999" y="4858006"/>
            <a:ext cx="4808159" cy="115405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Coding Agent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的不可控性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9E710E81-7214-C48F-CC06-D948EADE20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0834" y="1300931"/>
            <a:ext cx="1078651" cy="1021496"/>
          </a:xfrm>
          <a:prstGeom prst="rect">
            <a:avLst/>
          </a:prstGeom>
        </p:spPr>
      </p:pic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7B2F5A40-3C19-5902-590A-AD7DD5CAA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735150"/>
              </p:ext>
            </p:extLst>
          </p:nvPr>
        </p:nvGraphicFramePr>
        <p:xfrm>
          <a:off x="5870084" y="2811567"/>
          <a:ext cx="3005902" cy="1828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5902">
                  <a:extLst>
                    <a:ext uri="{9D8B030D-6E8A-4147-A177-3AD203B41FA5}">
                      <a16:colId xmlns:a16="http://schemas.microsoft.com/office/drawing/2014/main" val="3141204505"/>
                    </a:ext>
                  </a:extLst>
                </a:gridCol>
              </a:tblGrid>
              <a:tr h="457141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上下文丢失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552342"/>
                  </a:ext>
                </a:extLst>
              </a:tr>
              <a:tr h="457141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重复性工作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714255"/>
                  </a:ext>
                </a:extLst>
              </a:tr>
              <a:tr h="457141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边界模糊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561018"/>
                  </a:ext>
                </a:extLst>
              </a:tr>
              <a:tr h="457141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任务交接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435482"/>
                  </a:ext>
                </a:extLst>
              </a:tr>
            </a:tbl>
          </a:graphicData>
        </a:graphic>
      </p:graphicFrame>
      <p:pic>
        <p:nvPicPr>
          <p:cNvPr id="39" name="图形 38" descr="聊天气泡 纯色填充">
            <a:extLst>
              <a:ext uri="{FF2B5EF4-FFF2-40B4-BE49-F238E27FC236}">
                <a16:creationId xmlns:a16="http://schemas.microsoft.com/office/drawing/2014/main" id="{892D685E-C5C9-A87E-4CEB-2681215E32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6270" y="4672011"/>
            <a:ext cx="914400" cy="914400"/>
          </a:xfrm>
          <a:prstGeom prst="rect">
            <a:avLst/>
          </a:prstGeom>
        </p:spPr>
      </p:pic>
      <p:pic>
        <p:nvPicPr>
          <p:cNvPr id="41" name="图形 40" descr="机器人 纯色填充">
            <a:extLst>
              <a:ext uri="{FF2B5EF4-FFF2-40B4-BE49-F238E27FC236}">
                <a16:creationId xmlns:a16="http://schemas.microsoft.com/office/drawing/2014/main" id="{961A5483-6006-132D-266E-46FB7491A5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41120" y="5346200"/>
            <a:ext cx="914400" cy="914400"/>
          </a:xfrm>
          <a:prstGeom prst="rect">
            <a:avLst/>
          </a:prstGeom>
        </p:spPr>
      </p:pic>
      <p:pic>
        <p:nvPicPr>
          <p:cNvPr id="43" name="图形 42" descr="用户 纯色填充">
            <a:extLst>
              <a:ext uri="{FF2B5EF4-FFF2-40B4-BE49-F238E27FC236}">
                <a16:creationId xmlns:a16="http://schemas.microsoft.com/office/drawing/2014/main" id="{E45CEF9C-6A29-CA5A-13BE-EFD8043620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28157" y="5297450"/>
            <a:ext cx="914400" cy="914400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CC94942-66FF-0AE7-D55C-1AA29193520A}"/>
              </a:ext>
            </a:extLst>
          </p:cNvPr>
          <p:cNvSpPr/>
          <p:nvPr/>
        </p:nvSpPr>
        <p:spPr>
          <a:xfrm>
            <a:off x="6842557" y="5414520"/>
            <a:ext cx="2455976" cy="9144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30C9CA7-D28C-9DF2-F99E-5E0C85174AEF}"/>
              </a:ext>
            </a:extLst>
          </p:cNvPr>
          <p:cNvSpPr txBox="1"/>
          <p:nvPr/>
        </p:nvSpPr>
        <p:spPr>
          <a:xfrm>
            <a:off x="6893470" y="5551837"/>
            <a:ext cx="240506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写一个搜索树算法</a:t>
            </a:r>
            <a:endParaRPr lang="en-US" altLang="zh-CN" sz="11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加上</a:t>
            </a:r>
            <a:r>
              <a:rPr lang="en-US" altLang="zh-CN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cost</a:t>
            </a:r>
            <a:r>
              <a:rPr lang="zh-CN" altLang="en-US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endParaRPr lang="en-US" altLang="zh-CN" sz="11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通过人为参数设置单次搜索深度</a:t>
            </a:r>
            <a:endParaRPr lang="en-US" altLang="zh-CN" sz="11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图形 47" descr="语音 纯色填充">
            <a:extLst>
              <a:ext uri="{FF2B5EF4-FFF2-40B4-BE49-F238E27FC236}">
                <a16:creationId xmlns:a16="http://schemas.microsoft.com/office/drawing/2014/main" id="{B1BBAF10-C16C-DEF2-14C7-FB3A1EB25C3F}"/>
              </a:ext>
            </a:extLst>
          </p:cNvPr>
          <p:cNvSpPr/>
          <p:nvPr/>
        </p:nvSpPr>
        <p:spPr>
          <a:xfrm flipH="1">
            <a:off x="10198550" y="4597509"/>
            <a:ext cx="1605878" cy="1265992"/>
          </a:xfrm>
          <a:custGeom>
            <a:avLst/>
            <a:gdLst>
              <a:gd name="csX0" fmla="*/ 615315 w 647700"/>
              <a:gd name="csY0" fmla="*/ 0 h 590550"/>
              <a:gd name="csX1" fmla="*/ 32385 w 647700"/>
              <a:gd name="csY1" fmla="*/ 0 h 590550"/>
              <a:gd name="csX2" fmla="*/ 0 w 647700"/>
              <a:gd name="csY2" fmla="*/ 32385 h 590550"/>
              <a:gd name="csX3" fmla="*/ 0 w 647700"/>
              <a:gd name="csY3" fmla="*/ 425768 h 590550"/>
              <a:gd name="csX4" fmla="*/ 32385 w 647700"/>
              <a:gd name="csY4" fmla="*/ 458153 h 590550"/>
              <a:gd name="csX5" fmla="*/ 388620 w 647700"/>
              <a:gd name="csY5" fmla="*/ 458153 h 590550"/>
              <a:gd name="csX6" fmla="*/ 518160 w 647700"/>
              <a:gd name="csY6" fmla="*/ 590550 h 590550"/>
              <a:gd name="csX7" fmla="*/ 518160 w 647700"/>
              <a:gd name="csY7" fmla="*/ 459105 h 590550"/>
              <a:gd name="csX8" fmla="*/ 615315 w 647700"/>
              <a:gd name="csY8" fmla="*/ 459105 h 590550"/>
              <a:gd name="csX9" fmla="*/ 647700 w 647700"/>
              <a:gd name="csY9" fmla="*/ 426720 h 590550"/>
              <a:gd name="csX10" fmla="*/ 647700 w 647700"/>
              <a:gd name="csY10" fmla="*/ 33338 h 590550"/>
              <a:gd name="csX11" fmla="*/ 615315 w 647700"/>
              <a:gd name="csY11" fmla="*/ 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647700" h="590550">
                <a:moveTo>
                  <a:pt x="615315" y="0"/>
                </a:moveTo>
                <a:lnTo>
                  <a:pt x="32385" y="0"/>
                </a:lnTo>
                <a:cubicBezTo>
                  <a:pt x="14288" y="0"/>
                  <a:pt x="0" y="15240"/>
                  <a:pt x="0" y="32385"/>
                </a:cubicBezTo>
                <a:lnTo>
                  <a:pt x="0" y="425768"/>
                </a:lnTo>
                <a:cubicBezTo>
                  <a:pt x="0" y="443865"/>
                  <a:pt x="14288" y="458153"/>
                  <a:pt x="32385" y="458153"/>
                </a:cubicBezTo>
                <a:lnTo>
                  <a:pt x="388620" y="458153"/>
                </a:lnTo>
                <a:lnTo>
                  <a:pt x="518160" y="590550"/>
                </a:lnTo>
                <a:lnTo>
                  <a:pt x="518160" y="459105"/>
                </a:lnTo>
                <a:lnTo>
                  <a:pt x="615315" y="459105"/>
                </a:lnTo>
                <a:cubicBezTo>
                  <a:pt x="633413" y="459105"/>
                  <a:pt x="647700" y="443865"/>
                  <a:pt x="647700" y="426720"/>
                </a:cubicBezTo>
                <a:lnTo>
                  <a:pt x="647700" y="33338"/>
                </a:lnTo>
                <a:cubicBezTo>
                  <a:pt x="647700" y="15240"/>
                  <a:pt x="633413" y="0"/>
                  <a:pt x="615315" y="0"/>
                </a:cubicBez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pPr marL="342900" indent="-342900">
              <a:buAutoNum type="arabicPeriod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复杂命名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</a:rPr>
              <a:t>Fixed, safe</a:t>
            </a:r>
          </a:p>
          <a:p>
            <a:pPr marL="342900" indent="-342900">
              <a:buAutoNum type="arabicPeriod"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</a:rPr>
              <a:t>Default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兜底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-4000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t>问题设定与核心挑战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Problem Formulation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000" y="1300000"/>
            <a:ext cx="36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70000" y="1300000"/>
            <a:ext cx="3600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000" y="1460000"/>
            <a:ext cx="3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0">
                <a:solidFill>
                  <a:srgbClr val="333333"/>
                </a:solidFill>
                <a:latin typeface="Microsoft YaHei"/>
              </a:defRPr>
            </a:pPr>
            <a: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000" y="1860000"/>
            <a:ext cx="36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8B0000"/>
                </a:solidFill>
                <a:latin typeface="Microsoft YaHei"/>
              </a:defRPr>
            </a:pPr>
            <a:r>
              <a:rPr dirty="0" err="1"/>
              <a:t>上下文断裂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20000" y="2300000"/>
            <a:ext cx="31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  ✦ Agent </a:t>
            </a:r>
            <a:r>
              <a:rPr dirty="0" err="1"/>
              <a:t>间无共享记忆</a:t>
            </a:r>
            <a:endParaRPr dirty="0"/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  ✦ </a:t>
            </a:r>
            <a:r>
              <a:rPr dirty="0" err="1"/>
              <a:t>聊天记录不可靠传递</a:t>
            </a:r>
            <a:endParaRPr dirty="0"/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  ✦ </a:t>
            </a:r>
            <a:r>
              <a:rPr dirty="0" err="1"/>
              <a:t>关键决策信息丢失</a:t>
            </a:r>
            <a:endParaRPr dirty="0"/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  ✦ </a:t>
            </a:r>
            <a:r>
              <a:rPr dirty="0" err="1"/>
              <a:t>后续</a:t>
            </a:r>
            <a:r>
              <a:rPr dirty="0"/>
              <a:t> Agent "</a:t>
            </a:r>
            <a:r>
              <a:rPr dirty="0" err="1"/>
              <a:t>盲目"工作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4270000" y="1300000"/>
            <a:ext cx="36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0000" y="1300000"/>
            <a:ext cx="3600000" cy="60000"/>
          </a:xfrm>
          <a:prstGeom prst="rect">
            <a:avLst/>
          </a:prstGeom>
          <a:solidFill>
            <a:srgbClr val="E4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0000" y="1460000"/>
            <a:ext cx="3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0">
                <a:solidFill>
                  <a:srgbClr val="333333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000" y="1860000"/>
            <a:ext cx="36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E46A1F"/>
                </a:solidFill>
                <a:latin typeface="Microsoft YaHei"/>
              </a:defRPr>
            </a:pPr>
            <a:r>
              <a:t>过程不可见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0000" y="2300000"/>
            <a:ext cx="31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缺乏结构化任务看板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任务状态无法追踪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修改范围没有边界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验收标准不明确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70000" y="1300000"/>
            <a:ext cx="36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70000" y="1300000"/>
            <a:ext cx="3600000" cy="60000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0000" y="1460000"/>
            <a:ext cx="3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0">
                <a:solidFill>
                  <a:srgbClr val="333333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0000" y="1860000"/>
            <a:ext cx="36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D7C7C"/>
                </a:solidFill>
                <a:latin typeface="Microsoft YaHei"/>
              </a:defRPr>
            </a:pPr>
            <a:r>
              <a:t>质量难量化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0000" y="2300000"/>
            <a:ext cx="31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代码风格是否一致？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是否引入技术债务？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patch 命名是否规范？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文件结构是否合理？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000" y="3799999"/>
            <a:ext cx="11400000" cy="1198001"/>
          </a:xfrm>
          <a:prstGeom prst="rect">
            <a:avLst/>
          </a:prstGeom>
          <a:solidFill>
            <a:srgbClr val="FDF0EA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0000" y="3850000"/>
            <a:ext cx="11000000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8B0000"/>
                </a:solidFill>
                <a:latin typeface="Microsoft YaHei"/>
              </a:defRPr>
            </a:pPr>
            <a:r>
              <a:rPr dirty="0"/>
              <a:t>🎯  </a:t>
            </a:r>
            <a:r>
              <a:rPr dirty="0" err="1"/>
              <a:t>核心研究问题</a:t>
            </a:r>
            <a:endParaRPr dirty="0"/>
          </a:p>
          <a:p>
            <a:pPr>
              <a:spcAft>
                <a:spcPts val="3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 dirty="0"/>
          </a:p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如何设计一套基于仓库本地共享状态（</a:t>
            </a:r>
            <a:r>
              <a:rPr lang="en-US" sz="1600" b="1" dirty="0" err="1"/>
              <a:t>repo-local</a:t>
            </a:r>
            <a:r>
              <a:rPr lang="en-US" sz="1600" b="1" dirty="0"/>
              <a:t> shared </a:t>
            </a:r>
            <a:r>
              <a:rPr lang="en-US" sz="1600" b="1" dirty="0" err="1"/>
              <a:t>state</a:t>
            </a:r>
            <a:r>
              <a:rPr sz="1600" dirty="0" err="1"/>
              <a:t>）的协议与评测框架</a:t>
            </a:r>
            <a:r>
              <a:rPr sz="1600" dirty="0"/>
              <a:t>，</a:t>
            </a:r>
          </a:p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sz="1600" dirty="0"/>
              <a:t>使 Coding Agent </a:t>
            </a:r>
            <a:r>
              <a:rPr sz="1600" dirty="0" err="1"/>
              <a:t>在顺序协作中能够可靠传递上下文、控制修改范围、保持代码健康</a:t>
            </a:r>
            <a:r>
              <a:rPr sz="1600" dirty="0"/>
              <a:t>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System Architecture — 分层流程图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0000" y="1300000"/>
            <a:ext cx="4800000" cy="55000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0000" y="1300000"/>
            <a:ext cx="4800000" cy="5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User / Coding Agent</a:t>
            </a:r>
            <a:br>
              <a:rPr dirty="0"/>
            </a:br>
            <a:r>
              <a:rPr dirty="0" err="1"/>
              <a:t>任务发起者</a:t>
            </a:r>
            <a:r>
              <a:rPr dirty="0"/>
              <a:t> &amp; </a:t>
            </a:r>
            <a:r>
              <a:rPr dirty="0" err="1"/>
              <a:t>执行者</a:t>
            </a:r>
            <a:endParaRPr dirty="0"/>
          </a:p>
        </p:txBody>
      </p:sp>
      <p:sp>
        <p:nvSpPr>
          <p:cNvPr id="11" name="Down Arrow 10"/>
          <p:cNvSpPr/>
          <p:nvPr/>
        </p:nvSpPr>
        <p:spPr>
          <a:xfrm>
            <a:off x="5900000" y="1850000"/>
            <a:ext cx="400000" cy="280000"/>
          </a:xfrm>
          <a:prstGeom prst="down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0000" y="2250000"/>
            <a:ext cx="10800000" cy="850000"/>
          </a:xfrm>
          <a:prstGeom prst="rect">
            <a:avLst/>
          </a:prstGeom>
          <a:solidFill>
            <a:srgbClr val="FFF0E8"/>
          </a:solidFill>
          <a:ln w="1524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0000" y="2300000"/>
            <a:ext cx="30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B0000"/>
                </a:solidFill>
                <a:latin typeface="Microsoft YaHei"/>
              </a:defRPr>
            </a:pPr>
            <a:r>
              <a:t>Agent Skills 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0000" y="2600000"/>
            <a:ext cx="4400000" cy="4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00000" y="2630000"/>
            <a:ext cx="42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sz="1600" dirty="0"/>
              <a:t>🤝  </a:t>
            </a:r>
            <a:r>
              <a:rPr sz="1600" b="1" dirty="0"/>
              <a:t>Agent Bridge  —  </a:t>
            </a:r>
            <a:r>
              <a:rPr sz="1600" b="1" dirty="0" err="1"/>
              <a:t>交接·看板·上下文</a:t>
            </a:r>
            <a:endParaRPr sz="1600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6400000" y="2600000"/>
            <a:ext cx="4400000" cy="4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7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0000" y="2630000"/>
            <a:ext cx="42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sz="1600" b="1" dirty="0"/>
              <a:t>🔍  Code Health Review  —  </a:t>
            </a:r>
            <a:r>
              <a:rPr sz="1600" b="1" dirty="0" err="1"/>
              <a:t>扫描·报告</a:t>
            </a:r>
            <a:endParaRPr sz="1600" b="1" dirty="0"/>
          </a:p>
        </p:txBody>
      </p:sp>
      <p:sp>
        <p:nvSpPr>
          <p:cNvPr id="18" name="Down Arrow 17"/>
          <p:cNvSpPr/>
          <p:nvPr/>
        </p:nvSpPr>
        <p:spPr>
          <a:xfrm>
            <a:off x="5900000" y="3100000"/>
            <a:ext cx="400000" cy="280000"/>
          </a:xfrm>
          <a:prstGeom prst="down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0000" y="3600000"/>
            <a:ext cx="10800000" cy="900000"/>
          </a:xfrm>
          <a:prstGeom prst="rect">
            <a:avLst/>
          </a:prstGeom>
          <a:solidFill>
            <a:srgbClr val="FDF0EA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0000" y="3650000"/>
            <a:ext cx="50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B0000"/>
                </a:solidFill>
                <a:latin typeface="Microsoft YaHei"/>
              </a:defRPr>
            </a:pPr>
            <a:r>
              <a:t>repo_manager_core/  唯一核心实现 (Zero Duplication)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0000" y="3940000"/>
            <a:ext cx="3000000" cy="460000"/>
          </a:xfrm>
          <a:prstGeom prst="roundRect">
            <a:avLst/>
          </a:prstGeom>
          <a:solidFill>
            <a:srgbClr val="8B0000">
              <a:alpha val="85000"/>
            </a:srgbClr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00000" y="3940000"/>
            <a:ext cx="3000000" cy="4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 sz="1600" dirty="0"/>
              <a:t>board/</a:t>
            </a:r>
            <a:r>
              <a:rPr sz="1600" dirty="0" err="1"/>
              <a:t>看板</a:t>
            </a:r>
            <a:r>
              <a:rPr sz="1600" dirty="0"/>
              <a:t> I/</a:t>
            </a:r>
            <a:r>
              <a:rPr sz="1600" dirty="0" err="1"/>
              <a:t>O交接验证</a:t>
            </a:r>
            <a:endParaRPr sz="1600" dirty="0"/>
          </a:p>
        </p:txBody>
      </p:sp>
      <p:sp>
        <p:nvSpPr>
          <p:cNvPr id="23" name="Rounded Rectangle 22"/>
          <p:cNvSpPr/>
          <p:nvPr/>
        </p:nvSpPr>
        <p:spPr>
          <a:xfrm>
            <a:off x="4800000" y="3940000"/>
            <a:ext cx="3000000" cy="460000"/>
          </a:xfrm>
          <a:prstGeom prst="roundRect">
            <a:avLst/>
          </a:prstGeom>
          <a:solidFill>
            <a:srgbClr val="E46A1F">
              <a:alpha val="85000"/>
            </a:srgbClr>
          </a:solidFill>
          <a:ln w="12700">
            <a:solidFill>
              <a:srgbClr val="E46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000" y="3940000"/>
            <a:ext cx="3000000" cy="4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 sz="1600" dirty="0"/>
              <a:t>style/</a:t>
            </a:r>
            <a:r>
              <a:rPr sz="1600" dirty="0" err="1"/>
              <a:t>风格学习</a:t>
            </a:r>
            <a:endParaRPr sz="1600" dirty="0"/>
          </a:p>
        </p:txBody>
      </p:sp>
      <p:sp>
        <p:nvSpPr>
          <p:cNvPr id="25" name="Rounded Rectangle 24"/>
          <p:cNvSpPr/>
          <p:nvPr/>
        </p:nvSpPr>
        <p:spPr>
          <a:xfrm>
            <a:off x="8200000" y="3940000"/>
            <a:ext cx="3000000" cy="460000"/>
          </a:xfrm>
          <a:prstGeom prst="roundRect">
            <a:avLst/>
          </a:prstGeom>
          <a:solidFill>
            <a:srgbClr val="0D7C3D">
              <a:alpha val="85000"/>
            </a:srgbClr>
          </a:solidFill>
          <a:ln w="12700">
            <a:solidFill>
              <a:srgbClr val="0D7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0000" y="3940000"/>
            <a:ext cx="3000000" cy="4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 lang="en-US" sz="1600" dirty="0"/>
              <a:t>H</a:t>
            </a:r>
            <a:r>
              <a:rPr sz="1600" dirty="0"/>
              <a:t>ealth</a:t>
            </a:r>
            <a:r>
              <a:rPr lang="en-US" sz="1600" dirty="0"/>
              <a:t> </a:t>
            </a:r>
            <a:r>
              <a:rPr sz="1600" dirty="0" err="1"/>
              <a:t>扫描检测</a:t>
            </a:r>
            <a:endParaRPr sz="1600" dirty="0"/>
          </a:p>
        </p:txBody>
      </p:sp>
      <p:sp>
        <p:nvSpPr>
          <p:cNvPr id="27" name="Down Arrow 26"/>
          <p:cNvSpPr/>
          <p:nvPr/>
        </p:nvSpPr>
        <p:spPr>
          <a:xfrm>
            <a:off x="5900000" y="4500000"/>
            <a:ext cx="400000" cy="280000"/>
          </a:xfrm>
          <a:prstGeom prst="down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995448" y="4818000"/>
            <a:ext cx="5935718" cy="550000"/>
          </a:xfrm>
          <a:prstGeom prst="roundRect">
            <a:avLst/>
          </a:prstGeom>
          <a:solidFill>
            <a:srgbClr val="5C0000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30366" y="4956421"/>
            <a:ext cx="7047186" cy="5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📁  Repo-Local Shared State  ( .board/  &amp;  .</a:t>
            </a:r>
            <a:r>
              <a:rPr dirty="0" err="1"/>
              <a:t>repo_manager</a:t>
            </a:r>
            <a:r>
              <a:rPr dirty="0"/>
              <a:t>/ 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000" y="5431112"/>
            <a:ext cx="1140000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8B0000"/>
                </a:solidFill>
                <a:latin typeface="Microsoft YaHei"/>
              </a:defRPr>
            </a:pPr>
            <a:r>
              <a:rPr sz="2000" dirty="0"/>
              <a:t>▎</a:t>
            </a:r>
            <a:r>
              <a:rPr sz="2000" dirty="0" err="1"/>
              <a:t>核心设计理念</a:t>
            </a:r>
            <a:endParaRPr sz="2000" dirty="0"/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sz="1200" b="1" dirty="0"/>
              <a:t>  </a:t>
            </a:r>
            <a:r>
              <a:rPr sz="1600" b="1" dirty="0"/>
              <a:t>• </a:t>
            </a:r>
            <a:r>
              <a:rPr sz="1600" b="1" dirty="0" err="1"/>
              <a:t>状态即真理（State</a:t>
            </a:r>
            <a:r>
              <a:rPr sz="1600" b="1" dirty="0"/>
              <a:t> as Truth）：</a:t>
            </a:r>
            <a:r>
              <a:rPr sz="1600" b="1" dirty="0" err="1"/>
              <a:t>仓库本地文件是唯一真相来源</a:t>
            </a:r>
            <a:endParaRPr sz="1600" b="1" dirty="0"/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en-US" sz="1600" b="1" dirty="0"/>
              <a:t>• Agent Bridge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 · </a:t>
            </a:r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 Health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 · </a:t>
            </a:r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Benchmark Scorer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证据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en-US" altLang="zh-CN" sz="1600" b="1" dirty="0"/>
              <a:t>•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适应规则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(Human-Interaction)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，根据用户需求及时调整代码风格和检测规则。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endParaRPr lang="zh-CN" altLang="en-US" sz="1600" b="1" dirty="0"/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endParaRPr lang="en-US" sz="1600" b="1" dirty="0"/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endParaRPr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5 / 14</a:t>
            </a: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1D2E1105-4A84-0666-EB3C-BCC3B2373827}"/>
              </a:ext>
            </a:extLst>
          </p:cNvPr>
          <p:cNvSpPr/>
          <p:nvPr/>
        </p:nvSpPr>
        <p:spPr>
          <a:xfrm>
            <a:off x="9006020" y="4703542"/>
            <a:ext cx="1199999" cy="38560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FBE41D3F-EB40-A62D-3DA8-367E12BB2AB0}"/>
              </a:ext>
            </a:extLst>
          </p:cNvPr>
          <p:cNvSpPr/>
          <p:nvPr/>
        </p:nvSpPr>
        <p:spPr>
          <a:xfrm>
            <a:off x="10206020" y="4628342"/>
            <a:ext cx="1831244" cy="99257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/ User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BBA41F9C-47F5-40D7-2B1D-2E8B8D8DB57F}"/>
              </a:ext>
            </a:extLst>
          </p:cNvPr>
          <p:cNvSpPr/>
          <p:nvPr/>
        </p:nvSpPr>
        <p:spPr>
          <a:xfrm flipH="1">
            <a:off x="8977552" y="5094134"/>
            <a:ext cx="1200000" cy="38560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Agent Bridge — 两阶段刷新机制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Bridge Refresh — 把协作上下文写回仓库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220000" y="1300000"/>
            <a:ext cx="1800000" cy="17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0000" y="1300000"/>
            <a:ext cx="1800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0000" y="140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000" y="1950000"/>
            <a:ext cx="164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分配任务</a:t>
            </a:r>
            <a:br/>
            <a:r>
              <a:t>Agent A 接手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40000" y="2000000"/>
            <a:ext cx="140000" cy="16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00000" y="1300000"/>
            <a:ext cx="1800000" cy="17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00000" y="1300000"/>
            <a:ext cx="1800000" cy="40000"/>
          </a:xfrm>
          <a:prstGeom prst="rect">
            <a:avLst/>
          </a:prstGeom>
          <a:solidFill>
            <a:srgbClr val="E4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00000" y="140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0000" y="1950000"/>
            <a:ext cx="164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START 刷新</a:t>
            </a:r>
            <a:br/>
            <a:r>
              <a:t>读取仓库状态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20000" y="2000000"/>
            <a:ext cx="140000" cy="16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80000" y="1300000"/>
            <a:ext cx="1800000" cy="17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80000" y="1300000"/>
            <a:ext cx="1800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80000" y="140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✏️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0000" y="1950000"/>
            <a:ext cx="164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范围内实现</a:t>
            </a:r>
            <a:br/>
            <a:r>
              <a:t>allowed_paths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00000" y="2000000"/>
            <a:ext cx="140000" cy="16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60000" y="1300000"/>
            <a:ext cx="1800000" cy="17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60000" y="1300000"/>
            <a:ext cx="1800000" cy="40000"/>
          </a:xfrm>
          <a:prstGeom prst="rect">
            <a:avLst/>
          </a:prstGeom>
          <a:solidFill>
            <a:srgbClr val="0D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60000" y="140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0000" y="1950000"/>
            <a:ext cx="164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运行验收</a:t>
            </a:r>
            <a:br/>
            <a:r>
              <a:t>记录 evidence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980000" y="2000000"/>
            <a:ext cx="140000" cy="16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40000" y="1300000"/>
            <a:ext cx="1800000" cy="17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40000" y="1300000"/>
            <a:ext cx="1800000" cy="400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40000" y="140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000" y="1950000"/>
            <a:ext cx="164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END 刷新</a:t>
            </a:r>
            <a:br/>
            <a:r>
              <a:t>写 handoff JSON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960000" y="2000000"/>
            <a:ext cx="140000" cy="16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120000" y="1300000"/>
            <a:ext cx="1800000" cy="17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120000" y="1300000"/>
            <a:ext cx="1800000" cy="40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20000" y="140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00000" y="1950000"/>
            <a:ext cx="164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Agent B 接手</a:t>
            </a:r>
            <a:br/>
            <a:r>
              <a:t>恢复上下文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000" y="3300000"/>
            <a:ext cx="11000000" cy="3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▎bridge_refresh.py 在两个时点做什么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0000" y="3750000"/>
            <a:ext cx="2100000" cy="1300000"/>
          </a:xfrm>
          <a:prstGeom prst="rect">
            <a:avLst/>
          </a:prstGeom>
          <a:solidFill>
            <a:srgbClr val="FFF5F0"/>
          </a:solidFill>
          <a:ln w="635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70000" y="3750000"/>
            <a:ext cx="2100000" cy="40000"/>
          </a:xfrm>
          <a:prstGeom prst="rect">
            <a:avLst/>
          </a:prstGeom>
          <a:solidFill>
            <a:srgbClr val="0D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0000" y="3900000"/>
            <a:ext cx="2100000" cy="4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START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0000" y="4400000"/>
            <a:ext cx="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同步 board</a:t>
            </a:r>
            <a:br/>
            <a:r>
              <a:t>检查依赖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0000" y="3750000"/>
            <a:ext cx="2100000" cy="1300000"/>
          </a:xfrm>
          <a:prstGeom prst="rect">
            <a:avLst/>
          </a:prstGeom>
          <a:solidFill>
            <a:srgbClr val="FFF5F0"/>
          </a:solidFill>
          <a:ln w="635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690000" y="3750000"/>
            <a:ext cx="2100000" cy="40000"/>
          </a:xfrm>
          <a:prstGeom prst="rect">
            <a:avLst/>
          </a:prstGeom>
          <a:solidFill>
            <a:srgbClr val="E4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90000" y="3900000"/>
            <a:ext cx="2100000" cy="4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CONTEXT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40000" y="4400000"/>
            <a:ext cx="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生成上下文摘要</a:t>
            </a:r>
            <a:br/>
            <a:r>
              <a:t>agent_context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10000" y="3750000"/>
            <a:ext cx="2100000" cy="1300000"/>
          </a:xfrm>
          <a:prstGeom prst="rect">
            <a:avLst/>
          </a:prstGeom>
          <a:solidFill>
            <a:srgbClr val="FFF5F0"/>
          </a:solidFill>
          <a:ln w="635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10000" y="3750000"/>
            <a:ext cx="2100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10000" y="3900000"/>
            <a:ext cx="2100000" cy="4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SCOPE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0000" y="4400000"/>
            <a:ext cx="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读取路径白名单</a:t>
            </a:r>
            <a:br/>
            <a:r>
              <a:t>限制修改范围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30000" y="3750000"/>
            <a:ext cx="2100000" cy="1300000"/>
          </a:xfrm>
          <a:prstGeom prst="rect">
            <a:avLst/>
          </a:prstGeom>
          <a:solidFill>
            <a:srgbClr val="FFF5F0"/>
          </a:solidFill>
          <a:ln w="635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330000" y="3750000"/>
            <a:ext cx="2100000" cy="400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30000" y="3900000"/>
            <a:ext cx="2100000" cy="4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80000" y="4400000"/>
            <a:ext cx="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校验 handoff</a:t>
            </a:r>
            <a:br/>
            <a:r>
              <a:t>记录验证结果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50000" y="3750000"/>
            <a:ext cx="2100000" cy="1300000"/>
          </a:xfrm>
          <a:prstGeom prst="rect">
            <a:avLst/>
          </a:prstGeom>
          <a:solidFill>
            <a:srgbClr val="FFF5F0"/>
          </a:solidFill>
          <a:ln w="635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650000" y="3750000"/>
            <a:ext cx="2100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50000" y="3900000"/>
            <a:ext cx="2100000" cy="4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NEXT AGENT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00000" y="4400000"/>
            <a:ext cx="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读取 repo 状态</a:t>
            </a:r>
            <a:br/>
            <a:r>
              <a:t>继续工作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0000" y="5350000"/>
            <a:ext cx="11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▎现场演示命令</a:t>
            </a:r>
          </a:p>
          <a:p>
            <a:r>
              <a:t>  $ bridge_refresh.py --phase start ...     →     $ bridge_refresh.py --phase end ...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0586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t>代码健康审查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000" y="885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Code Health Review — Repo-Adaptive </a:t>
            </a:r>
            <a:r>
              <a:rPr dirty="0" err="1"/>
              <a:t>规则检测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370000" y="1644172"/>
            <a:ext cx="11400000" cy="3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0000" y="1644172"/>
            <a:ext cx="30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检测项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0000" y="1644172"/>
            <a:ext cx="30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严重度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0000" y="1644172"/>
            <a:ext cx="30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000" y="1964172"/>
            <a:ext cx="11400000" cy="28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0000" y="196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patch_name_smell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0000" y="196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E46A1F"/>
                </a:solidFill>
                <a:latin typeface="Microsoft YaHei"/>
              </a:defRPr>
            </a:pPr>
            <a:r>
              <a:t>⚠ 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0" y="196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函数名命中 patch_keywords（如 fix, safe, patch）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000" y="2244172"/>
            <a:ext cx="11400000" cy="280000"/>
          </a:xfrm>
          <a:prstGeom prst="rect">
            <a:avLst/>
          </a:prstGeom>
          <a:solidFill>
            <a:srgbClr val="FFF5F0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0000" y="224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unused_function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224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D7C3D"/>
                </a:solidFill>
                <a:latin typeface="Microsoft YaHei"/>
              </a:defRPr>
            </a:pPr>
            <a:r>
              <a:rPr dirty="0"/>
              <a:t>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0" y="224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定义但未被其他函数调用的孤立函数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000" y="2524172"/>
            <a:ext cx="11400000" cy="28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0000" y="252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wrapper_function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0000" y="252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D7C3D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0" y="252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≤5 行且只委托给单一函数的 thin wrapper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000" y="2804172"/>
            <a:ext cx="11400000" cy="280000"/>
          </a:xfrm>
          <a:prstGeom prst="rect">
            <a:avLst/>
          </a:prstGeom>
          <a:solidFill>
            <a:srgbClr val="FFF5F0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0000" y="280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duplicate_function_name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0000" y="280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D7C3D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0" y="280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同名函数在仓库中出现多次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000" y="3084172"/>
            <a:ext cx="11400000" cy="28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0000" y="308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suspicious_file_name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0000" y="308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E46A1F"/>
                </a:solidFill>
                <a:latin typeface="Microsoft YaHei"/>
              </a:defRPr>
            </a:pPr>
            <a:r>
              <a:t>⚠ 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000" y="308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文件名命中 suspicious_file_keywords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000" y="3364172"/>
            <a:ext cx="11400000" cy="280000"/>
          </a:xfrm>
          <a:prstGeom prst="rect">
            <a:avLst/>
          </a:prstGeom>
          <a:solidFill>
            <a:srgbClr val="FFF5F0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0000" y="336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fragmented_helpers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00000" y="336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E46A1F"/>
                </a:solidFill>
                <a:latin typeface="Microsoft YaHei"/>
              </a:defRPr>
            </a:pPr>
            <a:r>
              <a:t>⚠ 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0" y="336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单个文件包含 ≥4 个短 helper-like 函数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000" y="3644172"/>
            <a:ext cx="11400000" cy="28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0000" y="364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too_many_top_level_py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0000" y="364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E46A1F"/>
                </a:solidFill>
                <a:latin typeface="Microsoft YaHei"/>
              </a:defRPr>
            </a:pPr>
            <a:r>
              <a:t>⚠ 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0" y="364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顶级目录 .py 文件数量 &gt; 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0000" y="3924172"/>
            <a:ext cx="11400000" cy="280000"/>
          </a:xfrm>
          <a:prstGeom prst="rect">
            <a:avLst/>
          </a:prstGeom>
          <a:solidFill>
            <a:srgbClr val="FFF5F0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0000" y="392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suspicious_directory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0000" y="392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D7C3D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00000" y="392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目录名命中 suspicious_directory_keywords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0000" y="4204172"/>
            <a:ext cx="11400000" cy="28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0000" y="420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py_inside_output_dir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00000" y="420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E46A1F"/>
                </a:solidFill>
                <a:latin typeface="Microsoft YaHei"/>
              </a:defRPr>
            </a:pPr>
            <a:r>
              <a:t>⚠ 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0000" y="420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.py 文件位于 output/artifact/result 目录内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0000" y="4700000"/>
            <a:ext cx="1720000" cy="880000"/>
          </a:xfrm>
          <a:prstGeom prst="roundRect">
            <a:avLst/>
          </a:prstGeom>
          <a:solidFill>
            <a:srgbClr val="8B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2290000" y="4700000"/>
            <a:ext cx="1720000" cy="880000"/>
          </a:xfrm>
          <a:prstGeom prst="roundRect">
            <a:avLst/>
          </a:prstGeom>
          <a:solidFill>
            <a:srgbClr val="E46A1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8050000" y="4700000"/>
            <a:ext cx="1720000" cy="880000"/>
          </a:xfrm>
          <a:prstGeom prst="roundRect">
            <a:avLst/>
          </a:prstGeom>
          <a:solidFill>
            <a:srgbClr val="0D7C3D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970000" y="4700000"/>
            <a:ext cx="1720000" cy="880000"/>
          </a:xfrm>
          <a:prstGeom prst="roundRect">
            <a:avLst/>
          </a:prstGeom>
          <a:solidFill>
            <a:srgbClr val="7B2D8E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7 / 14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959F38CB-EFAA-68EB-F019-DC56D49B6DA9}"/>
              </a:ext>
            </a:extLst>
          </p:cNvPr>
          <p:cNvSpPr txBox="1"/>
          <p:nvPr/>
        </p:nvSpPr>
        <p:spPr>
          <a:xfrm>
            <a:off x="342659" y="1277483"/>
            <a:ext cx="3676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Smell Rules</a:t>
            </a:r>
            <a:endParaRPr lang="zh-CN" altLang="en-US" sz="20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43C117F5-C50B-91E0-8DD6-95B548C9A7FF}"/>
              </a:ext>
            </a:extLst>
          </p:cNvPr>
          <p:cNvSpPr txBox="1"/>
          <p:nvPr/>
        </p:nvSpPr>
        <p:spPr>
          <a:xfrm>
            <a:off x="370000" y="4593773"/>
            <a:ext cx="3676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Search Rules</a:t>
            </a:r>
            <a:endParaRPr lang="zh-CN" altLang="en-US" sz="20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0" name="表格 89">
            <a:extLst>
              <a:ext uri="{FF2B5EF4-FFF2-40B4-BE49-F238E27FC236}">
                <a16:creationId xmlns:a16="http://schemas.microsoft.com/office/drawing/2014/main" id="{294A8051-A387-0609-3A95-5F453CD46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515614"/>
              </p:ext>
            </p:extLst>
          </p:nvPr>
        </p:nvGraphicFramePr>
        <p:xfrm>
          <a:off x="502000" y="5078797"/>
          <a:ext cx="104944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7224">
                  <a:extLst>
                    <a:ext uri="{9D8B030D-6E8A-4147-A177-3AD203B41FA5}">
                      <a16:colId xmlns:a16="http://schemas.microsoft.com/office/drawing/2014/main" val="2118255273"/>
                    </a:ext>
                  </a:extLst>
                </a:gridCol>
                <a:gridCol w="5247224">
                  <a:extLst>
                    <a:ext uri="{9D8B030D-6E8A-4147-A177-3AD203B41FA5}">
                      <a16:colId xmlns:a16="http://schemas.microsoft.com/office/drawing/2014/main" val="31930509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Exclude Folders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.devel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.build /.git / .log /.model / Specific Folders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490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Exclude Files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Init.py / main.py / </a:t>
                      </a:r>
                      <a:r>
                        <a:rPr lang="en-US" altLang="zh-CN" dirty="0" err="1"/>
                        <a:t>Sepcific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481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Exclude Functions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876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7531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t>Repo-Adaptive 自适应规则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仓库风格学习与规则动态演化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000" y="1300000"/>
            <a:ext cx="2700000" cy="12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70000" y="1300000"/>
            <a:ext cx="2700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000" y="1400000"/>
            <a:ext cx="27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333333"/>
                </a:solidFill>
                <a:latin typeface="Microsoft YaHei"/>
              </a:defRPr>
            </a:pPr>
            <a:r>
              <a:t>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000" y="1800000"/>
            <a:ext cx="27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8B0000"/>
                </a:solidFill>
                <a:latin typeface="Microsoft YaHei"/>
              </a:defRPr>
            </a:pPr>
            <a:r>
              <a:t>suspicious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2100000"/>
            <a:ext cx="254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sz="1400" dirty="0" err="1"/>
              <a:t>总是作为可疑信号报警</a:t>
            </a:r>
            <a:endParaRPr sz="1400" dirty="0"/>
          </a:p>
        </p:txBody>
      </p:sp>
      <p:sp>
        <p:nvSpPr>
          <p:cNvPr id="14" name="Rectangle 13"/>
          <p:cNvSpPr/>
          <p:nvPr/>
        </p:nvSpPr>
        <p:spPr>
          <a:xfrm>
            <a:off x="3320000" y="1300000"/>
            <a:ext cx="2700000" cy="12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20000" y="1300000"/>
            <a:ext cx="2700000" cy="40000"/>
          </a:xfrm>
          <a:prstGeom prst="rect">
            <a:avLst/>
          </a:prstGeom>
          <a:solidFill>
            <a:srgbClr val="E4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20000" y="1400000"/>
            <a:ext cx="27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333333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0000" y="1800000"/>
            <a:ext cx="27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E46A1F"/>
                </a:solidFill>
                <a:latin typeface="Microsoft YaHei"/>
              </a:defRPr>
            </a:pPr>
            <a:r>
              <a:t>contextual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0000" y="2100000"/>
            <a:ext cx="254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sz="1400" dirty="0" err="1"/>
              <a:t>仅在上下文更可疑时提示</a:t>
            </a:r>
            <a:endParaRPr sz="1400" dirty="0"/>
          </a:p>
        </p:txBody>
      </p:sp>
      <p:sp>
        <p:nvSpPr>
          <p:cNvPr id="19" name="Rectangle 18"/>
          <p:cNvSpPr/>
          <p:nvPr/>
        </p:nvSpPr>
        <p:spPr>
          <a:xfrm>
            <a:off x="6270000" y="1300000"/>
            <a:ext cx="2700000" cy="12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70000" y="1300000"/>
            <a:ext cx="2700000" cy="40000"/>
          </a:xfrm>
          <a:prstGeom prst="rect">
            <a:avLst/>
          </a:prstGeom>
          <a:solidFill>
            <a:srgbClr val="0D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70000" y="1400000"/>
            <a:ext cx="27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333333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0000" y="1800000"/>
            <a:ext cx="27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7C3D"/>
                </a:solidFill>
                <a:latin typeface="Microsoft YaHei"/>
              </a:defRPr>
            </a:pPr>
            <a:r>
              <a:t>allowed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2100000"/>
            <a:ext cx="254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sz="1400" dirty="0" err="1"/>
              <a:t>当前仓库允许这种命名</a:t>
            </a:r>
            <a:endParaRPr sz="1400" dirty="0"/>
          </a:p>
        </p:txBody>
      </p:sp>
      <p:sp>
        <p:nvSpPr>
          <p:cNvPr id="24" name="Rectangle 23"/>
          <p:cNvSpPr/>
          <p:nvPr/>
        </p:nvSpPr>
        <p:spPr>
          <a:xfrm>
            <a:off x="9220000" y="1300000"/>
            <a:ext cx="2700000" cy="12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20000" y="1300000"/>
            <a:ext cx="2700000" cy="400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20000" y="1400000"/>
            <a:ext cx="27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333333"/>
                </a:solidFill>
                <a:latin typeface="Microsoft YaHei"/>
              </a:defRPr>
            </a:pPr>
            <a:r>
              <a:t>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0000" y="1800000"/>
            <a:ext cx="27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7B2D8E"/>
                </a:solidFill>
                <a:latin typeface="Microsoft YaHei"/>
              </a:defRPr>
            </a:pPr>
            <a:r>
              <a:t>case_by_case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0000" y="2100000"/>
            <a:ext cx="254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sz="1400" dirty="0" err="1"/>
              <a:t>不自动报警，请求人工判断</a:t>
            </a:r>
            <a:endParaRPr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370000" y="2750000"/>
            <a:ext cx="6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8B0000"/>
                </a:solidFill>
                <a:latin typeface="Microsoft YaHei"/>
              </a:defRPr>
            </a:pPr>
            <a:r>
              <a:t>▎规则文件层次与演化路径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000" y="3200000"/>
            <a:ext cx="50000" cy="3800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6297" y="3177483"/>
            <a:ext cx="5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999999"/>
                </a:solidFill>
                <a:latin typeface="Microsoft YaHei"/>
              </a:defRPr>
            </a:pPr>
            <a:r>
              <a:rPr sz="1200" dirty="0" err="1"/>
              <a:t>repo_manager_core</a:t>
            </a:r>
            <a:r>
              <a:rPr sz="1200" dirty="0"/>
              <a:t>/</a:t>
            </a:r>
            <a:r>
              <a:rPr sz="1200" dirty="0" err="1"/>
              <a:t>default_smell_rules.json</a:t>
            </a:r>
            <a:endParaRPr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520000" y="3410000"/>
            <a:ext cx="500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rPr sz="1400" dirty="0" err="1"/>
              <a:t>包内默认规则（只读，不修改</a:t>
            </a:r>
            <a:r>
              <a:rPr sz="1400" dirty="0"/>
              <a:t>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0000" y="3700000"/>
            <a:ext cx="50000" cy="380000"/>
          </a:xfrm>
          <a:prstGeom prst="rect">
            <a:avLst/>
          </a:prstGeom>
          <a:solidFill>
            <a:srgbClr val="E4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000" y="3700000"/>
            <a:ext cx="5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E46A1F"/>
                </a:solidFill>
                <a:latin typeface="Microsoft YaHei"/>
              </a:defRPr>
            </a:pPr>
            <a:r>
              <a:t>.repo_manager/smell_rules.json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000" y="3910000"/>
            <a:ext cx="500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rPr sz="1200" dirty="0" err="1"/>
              <a:t>当前仓库</a:t>
            </a:r>
            <a:r>
              <a:rPr sz="1200" dirty="0"/>
              <a:t> keyword </a:t>
            </a:r>
            <a:r>
              <a:rPr sz="1200" dirty="0" err="1"/>
              <a:t>策略（优先编辑</a:t>
            </a:r>
            <a:r>
              <a:rPr dirty="0"/>
              <a:t>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0000" y="4200000"/>
            <a:ext cx="50000" cy="3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0000" y="4200000"/>
            <a:ext cx="5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rPr dirty="0"/>
              <a:t>.</a:t>
            </a:r>
            <a:r>
              <a:rPr dirty="0" err="1"/>
              <a:t>repo_manager</a:t>
            </a:r>
            <a:r>
              <a:rPr dirty="0"/>
              <a:t>/</a:t>
            </a:r>
            <a:r>
              <a:rPr dirty="0" err="1"/>
              <a:t>search_rules.json</a:t>
            </a: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820000" y="4410000"/>
            <a:ext cx="500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rPr sz="1200" dirty="0" err="1"/>
              <a:t>当前仓库扫描范围（优先编辑</a:t>
            </a:r>
            <a:r>
              <a:rPr sz="1200" dirty="0"/>
              <a:t>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8890" y="4688800"/>
            <a:ext cx="50000" cy="380000"/>
          </a:xfrm>
          <a:prstGeom prst="rect">
            <a:avLst/>
          </a:prstGeom>
          <a:solidFill>
            <a:srgbClr val="0D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0000" y="4690676"/>
            <a:ext cx="5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D7C3D"/>
                </a:solidFill>
                <a:latin typeface="Microsoft YaHei"/>
              </a:defRPr>
            </a:pPr>
            <a:r>
              <a:t>.repo_manager/user_feedback.jsonl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490" y="4878800"/>
            <a:ext cx="500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rPr sz="1200" dirty="0" err="1"/>
              <a:t>人工反馈事件日志（可审计可回滚</a:t>
            </a:r>
            <a:r>
              <a:rPr sz="1200" dirty="0"/>
              <a:t>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3510" y="2798000"/>
            <a:ext cx="3850000" cy="3718759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16300" y="2980380"/>
            <a:ext cx="2300000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rPr dirty="0" err="1"/>
              <a:t>smell_rules.json</a:t>
            </a:r>
            <a:r>
              <a:rPr dirty="0"/>
              <a:t> </a:t>
            </a:r>
            <a:r>
              <a:rPr dirty="0" err="1"/>
              <a:t>示例</a:t>
            </a:r>
            <a:endParaRPr dirty="0"/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{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  "</a:t>
            </a:r>
            <a:r>
              <a:rPr dirty="0" err="1"/>
              <a:t>patch_keywords</a:t>
            </a:r>
            <a:r>
              <a:rPr dirty="0"/>
              <a:t>": {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    "fix": {</a:t>
            </a:r>
          </a:p>
          <a:p>
            <a:pPr>
              <a:spcAft>
                <a:spcPts val="300"/>
              </a:spcAft>
              <a:defRPr sz="900" b="0">
                <a:solidFill>
                  <a:srgbClr val="AACCAA"/>
                </a:solidFill>
                <a:latin typeface="Microsoft YaHei"/>
              </a:defRPr>
            </a:pPr>
            <a:r>
              <a:rPr dirty="0"/>
              <a:t>      "policy": "contextual",</a:t>
            </a:r>
          </a:p>
          <a:p>
            <a:pPr>
              <a:spcAft>
                <a:spcPts val="300"/>
              </a:spcAft>
              <a:defRPr sz="900" b="0">
                <a:solidFill>
                  <a:srgbClr val="AACCAA"/>
                </a:solidFill>
                <a:latin typeface="Microsoft YaHei"/>
              </a:defRPr>
            </a:pPr>
            <a:r>
              <a:rPr dirty="0"/>
              <a:t>      "source": "</a:t>
            </a:r>
            <a:r>
              <a:rPr dirty="0" err="1"/>
              <a:t>user_feedback</a:t>
            </a:r>
            <a:r>
              <a:rPr dirty="0"/>
              <a:t>",</a:t>
            </a:r>
          </a:p>
          <a:p>
            <a:pPr>
              <a:spcAft>
                <a:spcPts val="300"/>
              </a:spcAft>
              <a:defRPr sz="900" b="0">
                <a:solidFill>
                  <a:srgbClr val="AACCAA"/>
                </a:solidFill>
                <a:latin typeface="Microsoft YaHei"/>
              </a:defRPr>
            </a:pPr>
            <a:r>
              <a:rPr dirty="0"/>
              <a:t>      "reason": "Used in APIs"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    },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    "safe": {</a:t>
            </a:r>
          </a:p>
          <a:p>
            <a:pPr>
              <a:spcAft>
                <a:spcPts val="300"/>
              </a:spcAft>
              <a:defRPr sz="900" b="0">
                <a:solidFill>
                  <a:srgbClr val="AACCAA"/>
                </a:solidFill>
                <a:latin typeface="Microsoft YaHei"/>
              </a:defRPr>
            </a:pPr>
            <a:r>
              <a:rPr dirty="0"/>
              <a:t>      "policy": "allowed",</a:t>
            </a:r>
          </a:p>
          <a:p>
            <a:pPr>
              <a:spcAft>
                <a:spcPts val="300"/>
              </a:spcAft>
              <a:defRPr sz="900" b="0">
                <a:solidFill>
                  <a:srgbClr val="AACCAA"/>
                </a:solidFill>
                <a:latin typeface="Microsoft YaHei"/>
              </a:defRPr>
            </a:pPr>
            <a:r>
              <a:rPr dirty="0"/>
              <a:t>      "source": "</a:t>
            </a:r>
            <a:r>
              <a:rPr dirty="0" err="1"/>
              <a:t>repo_convention</a:t>
            </a:r>
            <a:r>
              <a:rPr dirty="0"/>
              <a:t>",</a:t>
            </a:r>
          </a:p>
          <a:p>
            <a:pPr>
              <a:spcAft>
                <a:spcPts val="300"/>
              </a:spcAft>
              <a:defRPr sz="900" b="0">
                <a:solidFill>
                  <a:srgbClr val="AACCAA"/>
                </a:solidFill>
                <a:latin typeface="Microsoft YaHei"/>
              </a:defRPr>
            </a:pPr>
            <a:r>
              <a:rPr dirty="0"/>
              <a:t>      "reason": "Local convention"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    }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  }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8 / 14</a:t>
            </a:r>
          </a:p>
        </p:txBody>
      </p:sp>
      <p:sp>
        <p:nvSpPr>
          <p:cNvPr id="45" name="Rectangle 41">
            <a:extLst>
              <a:ext uri="{FF2B5EF4-FFF2-40B4-BE49-F238E27FC236}">
                <a16:creationId xmlns:a16="http://schemas.microsoft.com/office/drawing/2014/main" id="{9C190263-E318-86C4-34E4-A9EDDE8585EC}"/>
              </a:ext>
            </a:extLst>
          </p:cNvPr>
          <p:cNvSpPr/>
          <p:nvPr/>
        </p:nvSpPr>
        <p:spPr>
          <a:xfrm>
            <a:off x="8120000" y="2766572"/>
            <a:ext cx="3800000" cy="3800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2">
            <a:extLst>
              <a:ext uri="{FF2B5EF4-FFF2-40B4-BE49-F238E27FC236}">
                <a16:creationId xmlns:a16="http://schemas.microsoft.com/office/drawing/2014/main" id="{4B0C561F-2118-A30F-26C8-D9AA7BA9AF8E}"/>
              </a:ext>
            </a:extLst>
          </p:cNvPr>
          <p:cNvSpPr txBox="1"/>
          <p:nvPr/>
        </p:nvSpPr>
        <p:spPr>
          <a:xfrm>
            <a:off x="8472162" y="3040380"/>
            <a:ext cx="2951062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rPr dirty="0" err="1"/>
              <a:t>smell_rules.json</a:t>
            </a:r>
            <a:r>
              <a:rPr dirty="0"/>
              <a:t> </a:t>
            </a:r>
            <a:r>
              <a:rPr dirty="0" err="1"/>
              <a:t>示例</a:t>
            </a:r>
            <a:endParaRPr dirty="0"/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{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  "</a:t>
            </a:r>
            <a:r>
              <a:rPr dirty="0" err="1"/>
              <a:t>patch_keywords</a:t>
            </a:r>
            <a:r>
              <a:rPr dirty="0"/>
              <a:t>": {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    "fix": {</a:t>
            </a:r>
          </a:p>
          <a:p>
            <a:pPr>
              <a:spcAft>
                <a:spcPts val="300"/>
              </a:spcAft>
              <a:defRPr sz="900" b="0">
                <a:solidFill>
                  <a:srgbClr val="AACCAA"/>
                </a:solidFill>
                <a:latin typeface="Microsoft YaHei"/>
              </a:defRPr>
            </a:pPr>
            <a:r>
              <a:rPr dirty="0"/>
              <a:t>      "policy": "contextual",</a:t>
            </a:r>
          </a:p>
          <a:p>
            <a:pPr>
              <a:spcAft>
                <a:spcPts val="300"/>
              </a:spcAft>
              <a:defRPr sz="900" b="0">
                <a:solidFill>
                  <a:srgbClr val="AACCAA"/>
                </a:solidFill>
                <a:latin typeface="Microsoft YaHei"/>
              </a:defRPr>
            </a:pPr>
            <a:r>
              <a:rPr dirty="0"/>
              <a:t>      "source": "</a:t>
            </a:r>
            <a:r>
              <a:rPr dirty="0" err="1"/>
              <a:t>user_feedback</a:t>
            </a:r>
            <a:r>
              <a:rPr dirty="0"/>
              <a:t>",</a:t>
            </a:r>
          </a:p>
          <a:p>
            <a:pPr>
              <a:spcAft>
                <a:spcPts val="300"/>
              </a:spcAft>
              <a:defRPr sz="900" b="0">
                <a:solidFill>
                  <a:srgbClr val="AACCAA"/>
                </a:solidFill>
                <a:latin typeface="Microsoft YaHei"/>
              </a:defRPr>
            </a:pPr>
            <a:r>
              <a:rPr dirty="0"/>
              <a:t>      "reason": "Used in APIs"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    },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    "safe": {</a:t>
            </a:r>
          </a:p>
          <a:p>
            <a:pPr>
              <a:spcAft>
                <a:spcPts val="300"/>
              </a:spcAft>
              <a:defRPr sz="900" b="0">
                <a:solidFill>
                  <a:srgbClr val="AACCAA"/>
                </a:solidFill>
                <a:latin typeface="Microsoft YaHei"/>
              </a:defRPr>
            </a:pPr>
            <a:r>
              <a:rPr dirty="0"/>
              <a:t>      "policy": "allowed",</a:t>
            </a:r>
          </a:p>
          <a:p>
            <a:pPr>
              <a:spcAft>
                <a:spcPts val="300"/>
              </a:spcAft>
              <a:defRPr sz="900" b="0">
                <a:solidFill>
                  <a:srgbClr val="AACCAA"/>
                </a:solidFill>
                <a:latin typeface="Microsoft YaHei"/>
              </a:defRPr>
            </a:pPr>
            <a:r>
              <a:rPr dirty="0"/>
              <a:t>      "source": "</a:t>
            </a:r>
            <a:r>
              <a:rPr dirty="0" err="1"/>
              <a:t>repo_convention</a:t>
            </a:r>
            <a:r>
              <a:rPr dirty="0"/>
              <a:t>",</a:t>
            </a:r>
          </a:p>
          <a:p>
            <a:pPr>
              <a:spcAft>
                <a:spcPts val="300"/>
              </a:spcAft>
              <a:defRPr sz="900" b="0">
                <a:solidFill>
                  <a:srgbClr val="AACCAA"/>
                </a:solidFill>
                <a:latin typeface="Microsoft YaHei"/>
              </a:defRPr>
            </a:pPr>
            <a:r>
              <a:rPr dirty="0"/>
              <a:t>      "reason": "Local convention"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    }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  }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t>评分体系与 Benchmark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Multi-Dimensional Scoring — 量化评测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00" y="1350000"/>
            <a:ext cx="3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Correctness（正确性）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1370000"/>
            <a:ext cx="5000000" cy="2800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00000" y="1370000"/>
            <a:ext cx="5000000" cy="280000"/>
          </a:xfrm>
          <a:prstGeom prst="rect">
            <a:avLst/>
          </a:prstGeom>
          <a:solidFill>
            <a:srgbClr val="0D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00000" y="1350000"/>
            <a:ext cx="1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0D7C3D"/>
                </a:solidFill>
                <a:latin typeface="Microsoft YaHei"/>
              </a:defRPr>
            </a:pPr>
            <a:r>
              <a:t>40 / 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0000" y="1350000"/>
            <a:ext cx="2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验收命令 &amp; 回归测试通过率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000" y="2150000"/>
            <a:ext cx="3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Hygiene（代码健康）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0000" y="2170000"/>
            <a:ext cx="5000000" cy="2800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00000" y="2170000"/>
            <a:ext cx="3125000" cy="280000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0000" y="2150000"/>
            <a:ext cx="1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0D7C7C"/>
                </a:solidFill>
                <a:latin typeface="Microsoft YaHei"/>
              </a:defRPr>
            </a:pPr>
            <a:r>
              <a:t>25 / 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0000" y="2150000"/>
            <a:ext cx="2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代码味道检测结果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000" y="2950000"/>
            <a:ext cx="3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Scope Control（范围控制）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00000" y="2970000"/>
            <a:ext cx="5000000" cy="2800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00000" y="2970000"/>
            <a:ext cx="3125000" cy="2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00000" y="2950000"/>
            <a:ext cx="1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25 / 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0000" y="2950000"/>
            <a:ext cx="2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修改范围不超出 allowed_paths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000" y="3750000"/>
            <a:ext cx="3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Handoff（交接完整性）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00000" y="3770000"/>
            <a:ext cx="5000000" cy="2800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900000" y="3770000"/>
            <a:ext cx="2500000" cy="2800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0000" y="3750000"/>
            <a:ext cx="1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7B2D8E"/>
                </a:solidFill>
                <a:latin typeface="Microsoft YaHei"/>
              </a:defRPr>
            </a:pPr>
            <a:r>
              <a:t>20 / 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0000" y="3750000"/>
            <a:ext cx="2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handoff JSON 字段完整度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000" y="4550000"/>
            <a:ext cx="3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Board Consistency（看板一致）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00000" y="4570000"/>
            <a:ext cx="5000000" cy="2800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900000" y="4570000"/>
            <a:ext cx="2500000" cy="280000"/>
          </a:xfrm>
          <a:prstGeom prst="rect">
            <a:avLst/>
          </a:prstGeom>
          <a:solidFill>
            <a:srgbClr val="E4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00000" y="4550000"/>
            <a:ext cx="1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E46A1F"/>
                </a:solidFill>
                <a:latin typeface="Microsoft YaHei"/>
              </a:defRPr>
            </a:pPr>
            <a:r>
              <a:t>20 / 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0000" y="4550000"/>
            <a:ext cx="2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看板状态与实际文件一致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000" y="5500000"/>
            <a:ext cx="11400000" cy="550000"/>
          </a:xfrm>
          <a:prstGeom prst="rect">
            <a:avLst/>
          </a:prstGeom>
          <a:solidFill>
            <a:srgbClr val="FDF0EA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0000" y="5550000"/>
            <a:ext cx="110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8B0000"/>
                </a:solidFill>
                <a:latin typeface="Microsoft YaHei"/>
              </a:defRPr>
            </a:pPr>
            <a:r>
              <a:t>📊  Total Score = Correctness(40) + Hygiene(25) + Scope Control(25) + Handoff(20) + Board Consistency(20)  =  满分 130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000" y="620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8B0000"/>
                </a:solidFill>
                <a:latin typeface="Microsoft YaHei"/>
              </a:defRPr>
            </a:pPr>
            <a:r>
              <a:t>▎评分原则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• 所有评分项只基于可观测的仓库状态（文件内容、目录结构、git diff），不依赖聊天记录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• 每个维度有明确扣分规则，评分过程可复现、可审计  •  benchmark_scorer.py 自动执行并生成 JSON 报告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t>任务看板与协议设计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Board Protocol — 结构化任务管理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00" y="1300000"/>
            <a:ext cx="2700000" cy="19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0000" y="1300000"/>
            <a:ext cx="2700000" cy="50000"/>
          </a:xfrm>
          <a:prstGeom prst="rect">
            <a:avLst/>
          </a:prstGeom>
          <a:solidFill>
            <a:srgbClr val="0D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70000" y="1480000"/>
            <a:ext cx="1100000" cy="360000"/>
          </a:xfrm>
          <a:prstGeom prst="roundRect">
            <a:avLst/>
          </a:prstGeom>
          <a:solidFill>
            <a:srgbClr val="0D7C3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0000" y="1480000"/>
            <a:ext cx="11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D7C3D"/>
                </a:solidFill>
                <a:latin typeface="Microsoft YaHei"/>
              </a:defRPr>
            </a:pPr>
            <a:r>
              <a:t>T001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000000"/>
            <a:ext cx="27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Date Parser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2350000"/>
            <a:ext cx="2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D7C3D"/>
                </a:solidFill>
                <a:latin typeface="Microsoft YaHei"/>
              </a:defRPr>
            </a:pPr>
            <a:r>
              <a:t>DONE 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000" y="2650000"/>
            <a:ext cx="24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日期解析器</a:t>
            </a:r>
            <a:br/>
            <a:r>
              <a:t>实现日期字段识别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990000" y="2100000"/>
            <a:ext cx="200000" cy="18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20000" y="1300000"/>
            <a:ext cx="2700000" cy="19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20000" y="1300000"/>
            <a:ext cx="2700000" cy="5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20000" y="1480000"/>
            <a:ext cx="1100000" cy="360000"/>
          </a:xfrm>
          <a:prstGeom prst="roundRect">
            <a:avLst/>
          </a:prstGeom>
          <a:solidFill>
            <a:srgbClr val="1A56D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0000" y="1480000"/>
            <a:ext cx="11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T002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0000" y="2000000"/>
            <a:ext cx="27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CSV Import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0000" y="2350000"/>
            <a:ext cx="2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IN_PROGRESS 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0000" y="2650000"/>
            <a:ext cx="24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CSV 导入模块</a:t>
            </a:r>
            <a:br/>
            <a:r>
              <a:t>使用 date parser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40000" y="2100000"/>
            <a:ext cx="200000" cy="18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0000" y="1300000"/>
            <a:ext cx="2700000" cy="19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0000" y="1300000"/>
            <a:ext cx="2700000" cy="500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970000" y="1480000"/>
            <a:ext cx="1100000" cy="360000"/>
          </a:xfrm>
          <a:prstGeom prst="roundRect">
            <a:avLst/>
          </a:prstGeom>
          <a:solidFill>
            <a:srgbClr val="7B2D8E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70000" y="1480000"/>
            <a:ext cx="11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7B2D8E"/>
                </a:solidFill>
                <a:latin typeface="Microsoft YaHei"/>
              </a:defRPr>
            </a:pPr>
            <a:r>
              <a:t>T003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0000" y="2000000"/>
            <a:ext cx="27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Monthly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0000" y="2350000"/>
            <a:ext cx="2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7B2D8E"/>
                </a:solidFill>
                <a:latin typeface="Microsoft YaHei"/>
              </a:defRPr>
            </a:pPr>
            <a:r>
              <a:t>TODO 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0000" y="2650000"/>
            <a:ext cx="24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月度汇总报表</a:t>
            </a:r>
            <a:br/>
            <a:r>
              <a:t>按月份和类别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890000" y="2100000"/>
            <a:ext cx="200000" cy="18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20000" y="1300000"/>
            <a:ext cx="2700000" cy="19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20000" y="1300000"/>
            <a:ext cx="2700000" cy="5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920000" y="1480000"/>
            <a:ext cx="1100000" cy="360000"/>
          </a:xfrm>
          <a:prstGeom prst="roundRect">
            <a:avLst/>
          </a:prstGeom>
          <a:solidFill>
            <a:srgbClr val="8B0000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20000" y="1480000"/>
            <a:ext cx="11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8B0000"/>
                </a:solidFill>
                <a:latin typeface="Microsoft YaHei"/>
              </a:defRPr>
            </a:pPr>
            <a:r>
              <a:t>T004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0000" y="2000000"/>
            <a:ext cx="27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Report Artifact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0000" y="2350000"/>
            <a:ext cx="2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8B0000"/>
                </a:solidFill>
                <a:latin typeface="Microsoft YaHei"/>
              </a:defRPr>
            </a:pPr>
            <a:r>
              <a:t>TODO 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0000" y="2650000"/>
            <a:ext cx="24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报告制品输出</a:t>
            </a:r>
            <a:br/>
            <a:r>
              <a:t>Markdown 格式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000" y="3500000"/>
            <a:ext cx="11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B0000"/>
                </a:solidFill>
                <a:latin typeface="Microsoft YaHei"/>
              </a:defRPr>
            </a:pPr>
            <a:r>
              <a:t>▎任务状态流转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0000" y="3900000"/>
            <a:ext cx="2100000" cy="440000"/>
          </a:xfrm>
          <a:prstGeom prst="roundRect">
            <a:avLst/>
          </a:prstGeom>
          <a:solidFill>
            <a:srgbClr val="99999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0000" y="3900000"/>
            <a:ext cx="21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999999"/>
                </a:solidFill>
                <a:latin typeface="Microsoft YaHei"/>
              </a:defRPr>
            </a:pPr>
            <a:r>
              <a:t>TODO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2470000" y="4000000"/>
            <a:ext cx="160000" cy="14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650000" y="3900000"/>
            <a:ext cx="2100000" cy="440000"/>
          </a:xfrm>
          <a:prstGeom prst="roundRect">
            <a:avLst/>
          </a:prstGeom>
          <a:solidFill>
            <a:srgbClr val="1A56D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50000" y="3900000"/>
            <a:ext cx="21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IN_PROGRESS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750000" y="4000000"/>
            <a:ext cx="160000" cy="14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930000" y="3900000"/>
            <a:ext cx="2100000" cy="440000"/>
          </a:xfrm>
          <a:prstGeom prst="roundRect">
            <a:avLst/>
          </a:prstGeom>
          <a:solidFill>
            <a:srgbClr val="8B000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30000" y="3900000"/>
            <a:ext cx="21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8B0000"/>
                </a:solidFill>
                <a:latin typeface="Microsoft YaHei"/>
              </a:defRPr>
            </a:pPr>
            <a:r>
              <a:t>BLOCKED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7030000" y="4000000"/>
            <a:ext cx="160000" cy="14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210000" y="3900000"/>
            <a:ext cx="2100000" cy="440000"/>
          </a:xfrm>
          <a:prstGeom prst="roundRect">
            <a:avLst/>
          </a:prstGeom>
          <a:solidFill>
            <a:srgbClr val="E46A1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210000" y="3900000"/>
            <a:ext cx="21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E46A1F"/>
                </a:solidFill>
                <a:latin typeface="Microsoft YaHei"/>
              </a:defRPr>
            </a:pPr>
            <a:r>
              <a:t>READY_FOR_REVIEW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9310000" y="4000000"/>
            <a:ext cx="160000" cy="14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490000" y="3900000"/>
            <a:ext cx="2100000" cy="440000"/>
          </a:xfrm>
          <a:prstGeom prst="roundRect">
            <a:avLst/>
          </a:prstGeom>
          <a:solidFill>
            <a:srgbClr val="0D7C3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90000" y="3900000"/>
            <a:ext cx="21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D7C3D"/>
                </a:solidFill>
                <a:latin typeface="Microsoft YaHei"/>
              </a:defRPr>
            </a:pPr>
            <a:r>
              <a:t>DONE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0000" y="4600000"/>
            <a:ext cx="11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8B0000"/>
                </a:solidFill>
                <a:latin typeface="Microsoft YaHei"/>
              </a:defRPr>
            </a:pPr>
            <a:r>
              <a:t>▎验收命令示例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  $ PYTHONPATH=demo_repo_template/src python3 -m unittest discover -s tests -p 'test_parser.py'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  $ PYTHONPATH=. python3 tools/benchmark_scorer.py --task task.yaml --repo . --output score.json</a:t>
            </a:r>
          </a:p>
          <a:p>
            <a:pPr>
              <a:spcAft>
                <a:spcPts val="3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>
              <a:spcAft>
                <a:spcPts val="300"/>
              </a:spcAft>
              <a:defRPr sz="1300" b="1">
                <a:solidFill>
                  <a:srgbClr val="8B0000"/>
                </a:solidFill>
                <a:latin typeface="Microsoft YaHei"/>
              </a:defRPr>
            </a:pPr>
            <a:r>
              <a:t>▎Board 协议输出文件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.board/tasks.yaml  |  .board/handoffs/&lt;id&gt;_&lt;agent&gt;.json  |  .board/reviews/&lt;id&gt;_review.md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.repo_manager/repo_style_profile.json  |  .repo_manager/agent_context.md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现场演示：90 秒完成一次交接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Live Demo — Agent Bridge 从接手到可审计交接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00" y="1200000"/>
            <a:ext cx="5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01  START 刷新（20 秒）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000" y="1550000"/>
            <a:ext cx="5500000" cy="3000000"/>
          </a:xfrm>
          <a:prstGeom prst="rect">
            <a:avLst/>
          </a:prstGeom>
          <a:solidFill>
            <a:srgbClr val="F5EEE8"/>
          </a:solidFill>
          <a:ln w="19050">
            <a:solidFill>
              <a:srgbClr val="B2222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000" y="1550000"/>
            <a:ext cx="5500000" cy="30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运行 bridge_refresh --phase start</a:t>
            </a:r>
            <a:br/>
            <a:r>
              <a:t>展示任务、依赖、allowed_paths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000" y="1590000"/>
            <a:ext cx="5500000" cy="500000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00000" y="1200000"/>
            <a:ext cx="5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02  查看共享上下文（20 秒）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0000" y="1550000"/>
            <a:ext cx="5500000" cy="3000000"/>
          </a:xfrm>
          <a:prstGeom prst="rect">
            <a:avLst/>
          </a:prstGeom>
          <a:solidFill>
            <a:srgbClr val="F5EEE8"/>
          </a:solidFill>
          <a:ln w="19050">
            <a:solidFill>
              <a:srgbClr val="B2222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00000" y="1550000"/>
            <a:ext cx="5500000" cy="30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打开 .repo_manager/agent_context.md</a:t>
            </a:r>
            <a:br/>
            <a:r>
              <a:t>上一位 Agent 的状态被压缩成可读摘要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0000" y="1590000"/>
            <a:ext cx="5500000" cy="500000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000" y="4700000"/>
            <a:ext cx="5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03  END 刷新（25 秒）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000" y="5050000"/>
            <a:ext cx="5500000" cy="1500000"/>
          </a:xfrm>
          <a:prstGeom prst="rect">
            <a:avLst/>
          </a:prstGeom>
          <a:solidFill>
            <a:srgbClr val="F5EEE8"/>
          </a:solidFill>
          <a:ln w="19050">
            <a:solidFill>
              <a:srgbClr val="B2222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0000" y="5050000"/>
            <a:ext cx="5500000" cy="1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运行 bridge_refresh --phase end</a:t>
            </a:r>
            <a:br/>
            <a:r>
              <a:t>校验 handoff、验证证据与 board 一致性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000" y="5090000"/>
            <a:ext cx="5500000" cy="500000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00000" y="4700000"/>
            <a:ext cx="5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04  Scorer 收口（25 秒）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0000" y="5050000"/>
            <a:ext cx="5500000" cy="1500000"/>
          </a:xfrm>
          <a:prstGeom prst="rect">
            <a:avLst/>
          </a:prstGeom>
          <a:solidFill>
            <a:srgbClr val="F5EEE8"/>
          </a:solidFill>
          <a:ln w="19050">
            <a:solidFill>
              <a:srgbClr val="B2222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00000" y="5050000"/>
            <a:ext cx="5500000" cy="1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展示 score.json</a:t>
            </a:r>
            <a:br/>
            <a:r>
              <a:t>Correctness + Hygiene + Scope + Handoff + 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0000" y="5090000"/>
            <a:ext cx="5500000" cy="500000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t>实验设计与初步结果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Experiment Design &amp; Preliminary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000" y="1300000"/>
            <a:ext cx="5500000" cy="18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70000" y="1300000"/>
            <a:ext cx="5500000" cy="5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0000" y="1450000"/>
            <a:ext cx="51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B0000"/>
                </a:solidFill>
                <a:latin typeface="Microsoft YaHei"/>
              </a:defRPr>
            </a:pPr>
            <a:r>
              <a:t>📋  场景 A：无 BoardFlow 协议  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0000" y="1900000"/>
            <a:ext cx="51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Agent A 完成任务后无结构化交接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Agent B 仅依赖聊天记录或零上下文接手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常见问题：重复探索、范围漂移、风格不一致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0000" y="1300000"/>
            <a:ext cx="5500000" cy="18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70000" y="1300000"/>
            <a:ext cx="5500000" cy="50000"/>
          </a:xfrm>
          <a:prstGeom prst="rect">
            <a:avLst/>
          </a:prstGeom>
          <a:solidFill>
            <a:srgbClr val="0D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0000" y="1450000"/>
            <a:ext cx="51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7C3D"/>
                </a:solidFill>
                <a:latin typeface="Microsoft YaHei"/>
              </a:defRPr>
            </a:pPr>
            <a:r>
              <a:t>✅  场景 B：使用 BoardFlow 协议  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000" y="1900000"/>
            <a:ext cx="51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Agent A 通过 Agent Bridge 写 handoff JSON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Agent B 读取 tasks.yaml + agent_context.md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Benchmark Scorer 自动评测所有维度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000" y="3300000"/>
            <a:ext cx="11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8B0000"/>
                </a:solidFill>
                <a:latin typeface="Microsoft YaHei"/>
              </a:defRPr>
            </a:pPr>
            <a:r>
              <a:t>▎对比实验（T001→T002→T003→T004 任务链）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3700000"/>
            <a:ext cx="11200000" cy="320000"/>
          </a:xfrm>
          <a:prstGeom prst="rect">
            <a:avLst/>
          </a:prstGeom>
          <a:solidFill>
            <a:srgbClr val="8B0000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0000" y="3700000"/>
            <a:ext cx="28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3700000"/>
            <a:ext cx="29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无 BoardFlow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000" y="3700000"/>
            <a:ext cx="29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有 BoardFlow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000" y="3700000"/>
            <a:ext cx="25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提升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4020000"/>
            <a:ext cx="11200000" cy="320000"/>
          </a:xfrm>
          <a:prstGeom prst="rect">
            <a:avLst/>
          </a:prstGeom>
          <a:solidFill>
            <a:srgbClr val="FFF5F0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0000" y="4020000"/>
            <a:ext cx="28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上下文丢失率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0000" y="4020000"/>
            <a:ext cx="29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67%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0000" y="4020000"/>
            <a:ext cx="29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12%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000" y="4020000"/>
            <a:ext cx="25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↓ 82%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4340000"/>
            <a:ext cx="11200000" cy="32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0000" y="4340000"/>
            <a:ext cx="28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重复探索次数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0000" y="4340000"/>
            <a:ext cx="29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4.2 次/任务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0000" y="4340000"/>
            <a:ext cx="29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0.8 次/任务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0000" y="4340000"/>
            <a:ext cx="25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↓ 81%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4660000"/>
            <a:ext cx="11200000" cy="320000"/>
          </a:xfrm>
          <a:prstGeom prst="rect">
            <a:avLst/>
          </a:prstGeom>
          <a:solidFill>
            <a:srgbClr val="FFF5F0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0000" y="4660000"/>
            <a:ext cx="28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Scope Drift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00000" y="4660000"/>
            <a:ext cx="29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38%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0000" y="4660000"/>
            <a:ext cx="29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0000" y="4660000"/>
            <a:ext cx="25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↓ 84%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4980000"/>
            <a:ext cx="11200000" cy="32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0000" y="4980000"/>
            <a:ext cx="28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代码健康分数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0000" y="4980000"/>
            <a:ext cx="29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62 / 130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0000" y="4980000"/>
            <a:ext cx="29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112 / 130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0000" y="4980000"/>
            <a:ext cx="25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0D7C3D"/>
                </a:solidFill>
                <a:latin typeface="Microsoft YaHei"/>
              </a:defRPr>
            </a:pPr>
            <a:r>
              <a:t>↑ 81%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000" y="5100000"/>
            <a:ext cx="114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8B0000"/>
                </a:solidFill>
                <a:latin typeface="Microsoft YaHei"/>
              </a:defRPr>
            </a:pPr>
            <a:r>
              <a:t>▎初步观察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• 使用 BoardFlow 协议的 Agent B 能准确获取前置任务上下文，减少重复探索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• 代码健康扫描能有效识别 patch_name_smell、fragmented_helpers 等问题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• Scope Control 通过 allowed_paths 约束有效降低了 Agent 的越界修改概率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• 结构化 handoff 使得交接过程可追溯、可审计、可复现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Summary &amp; 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00" y="1300000"/>
            <a:ext cx="11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8B0000"/>
                </a:solidFill>
                <a:latin typeface="Microsoft YaHei"/>
              </a:defRPr>
            </a:pPr>
            <a:r>
              <a:t>▎核心贡献</a:t>
            </a:r>
          </a:p>
        </p:txBody>
      </p:sp>
      <p:sp>
        <p:nvSpPr>
          <p:cNvPr id="10" name="Oval 9"/>
          <p:cNvSpPr/>
          <p:nvPr/>
        </p:nvSpPr>
        <p:spPr>
          <a:xfrm>
            <a:off x="570000" y="1800000"/>
            <a:ext cx="450000" cy="4500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0000" y="1800000"/>
            <a:ext cx="45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000" y="1800000"/>
            <a:ext cx="4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B0000"/>
                </a:solidFill>
                <a:latin typeface="Microsoft YaHei"/>
              </a:defRPr>
            </a:pPr>
            <a:r>
              <a:t>BoardFlow 协议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000" y="2050000"/>
            <a:ext cx="10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设计了基于 repo-local shared state 的多 Agent 协作协议</a:t>
            </a:r>
          </a:p>
        </p:txBody>
      </p:sp>
      <p:sp>
        <p:nvSpPr>
          <p:cNvPr id="14" name="Oval 13"/>
          <p:cNvSpPr/>
          <p:nvPr/>
        </p:nvSpPr>
        <p:spPr>
          <a:xfrm>
            <a:off x="570000" y="2500000"/>
            <a:ext cx="450000" cy="45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0000" y="2500000"/>
            <a:ext cx="45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000" y="2500000"/>
            <a:ext cx="4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Agent Bridge 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000" y="2750000"/>
            <a:ext cx="10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实现了 task-aware 的 Agent 上下文传递与范围控制系统</a:t>
            </a:r>
          </a:p>
        </p:txBody>
      </p:sp>
      <p:sp>
        <p:nvSpPr>
          <p:cNvPr id="18" name="Oval 17"/>
          <p:cNvSpPr/>
          <p:nvPr/>
        </p:nvSpPr>
        <p:spPr>
          <a:xfrm>
            <a:off x="570000" y="3200000"/>
            <a:ext cx="450000" cy="450000"/>
          </a:xfrm>
          <a:prstGeom prst="ellipse">
            <a:avLst/>
          </a:prstGeom>
          <a:solidFill>
            <a:srgbClr val="0D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0000" y="3200000"/>
            <a:ext cx="45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000" y="3200000"/>
            <a:ext cx="4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7C3D"/>
                </a:solidFill>
                <a:latin typeface="Microsoft YaHei"/>
              </a:defRPr>
            </a:pPr>
            <a:r>
              <a:t>Code Health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000" y="3450000"/>
            <a:ext cx="10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构建了 Repo-Adaptive 代码健康检测框架，支持风格学习</a:t>
            </a:r>
          </a:p>
        </p:txBody>
      </p:sp>
      <p:sp>
        <p:nvSpPr>
          <p:cNvPr id="22" name="Oval 21"/>
          <p:cNvSpPr/>
          <p:nvPr/>
        </p:nvSpPr>
        <p:spPr>
          <a:xfrm>
            <a:off x="570000" y="3900000"/>
            <a:ext cx="450000" cy="45000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0000" y="3900000"/>
            <a:ext cx="45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0000" y="3900000"/>
            <a:ext cx="4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7B2D8E"/>
                </a:solidFill>
                <a:latin typeface="Microsoft YaHei"/>
              </a:defRPr>
            </a:pPr>
            <a:r>
              <a:t>多维度 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0000" y="4150000"/>
            <a:ext cx="10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建立了覆盖 5 个维度的量化评测体系（满分 130）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000" y="4700000"/>
            <a:ext cx="11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8B0000"/>
                </a:solidFill>
                <a:latin typeface="Microsoft YaHei"/>
              </a:defRPr>
            </a:pPr>
            <a:r>
              <a:t>▎未来工作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0000" y="5100000"/>
            <a:ext cx="110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✦ 扩展多语言/多框架支持 — 从 Python 扩展到 JS、Java、Go 等生态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0000" y="5380000"/>
            <a:ext cx="110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✦ 更大规模实验 — 增加 Agent 数量与任务链长度，评估鲁棒性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000" y="5660000"/>
            <a:ext cx="110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✦ 自动化 Benchmark Pipeline — CI/CD 集成的自动化评测流水线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0000" y="5940000"/>
            <a:ext cx="110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✦ Agent 行为分析 — 通过 handoff 日志分析可视化协作模式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0000" y="6220000"/>
            <a:ext cx="110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✦ 与 SWE-bench 等现有基准的对比研究与集成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92000" y="0"/>
            <a:ext cx="3000000" cy="6858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000" y="1500000"/>
            <a:ext cx="7000000" cy="1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3200000"/>
            <a:ext cx="2400000" cy="25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000" y="3400000"/>
            <a:ext cx="7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FFDDDD"/>
                </a:solidFill>
                <a:latin typeface="Microsoft YaHei"/>
              </a:defRPr>
            </a:pPr>
            <a:r>
              <a:t>BoardFlowBench — 面向 Coding Agent 的协作纪律与代码健康评测</a:t>
            </a:r>
          </a:p>
          <a:p>
            <a:pPr>
              <a:spcAft>
                <a:spcPts val="3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Aft>
                <a:spcPts val="300"/>
              </a:spcAft>
              <a:defRPr sz="1400" b="0">
                <a:solidFill>
                  <a:srgbClr val="FFCCCC"/>
                </a:solidFill>
                <a:latin typeface="Microsoft YaHei"/>
              </a:defRPr>
            </a:pPr>
            <a:r>
              <a:t>大语言模型与信息决策 · 课程项目</a:t>
            </a:r>
          </a:p>
          <a:p>
            <a:pPr>
              <a:spcAft>
                <a:spcPts val="300"/>
              </a:spcAft>
              <a:defRPr sz="1200" b="0">
                <a:solidFill>
                  <a:srgbClr val="FFBBBB"/>
                </a:solidFill>
                <a:latin typeface="Microsoft YaHei"/>
              </a:defRPr>
            </a:pPr>
            <a:r>
              <a:t>2026 年 6 月</a:t>
            </a:r>
          </a:p>
          <a:p>
            <a:pPr>
              <a:spcAft>
                <a:spcPts val="3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>
              <a:spcAft>
                <a:spcPts val="300"/>
              </a:spcAft>
              <a:defRPr sz="1600" b="1">
                <a:solidFill>
                  <a:srgbClr val="C49A2A"/>
                </a:solidFill>
                <a:latin typeface="Microsoft YaHei"/>
              </a:defRPr>
            </a:pPr>
            <a:r>
              <a:t>欢迎提问与交流 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5500000"/>
            <a:ext cx="10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BBBB"/>
                </a:solidFill>
                <a:latin typeface="Microsoft YaHei"/>
              </a:defRPr>
            </a:pPr>
            <a:r>
              <a:t>repo_manager_core/ 唯一实现 · Agent Bridge 管"过程" · Code Health 管"质量" · Benchmark Scorer 管"证据"</a:t>
            </a:r>
          </a:p>
        </p:txBody>
      </p:sp>
      <p:sp>
        <p:nvSpPr>
          <p:cNvPr id="10" name="Oval 9"/>
          <p:cNvSpPr/>
          <p:nvPr/>
        </p:nvSpPr>
        <p:spPr>
          <a:xfrm>
            <a:off x="9500000" y="3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0000" y="8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500000" y="13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500000" y="18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0000" y="23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0000" y="28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500000" y="33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500000" y="38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00000" y="43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0000" y="48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00000" y="53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500000" y="58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1803</Words>
  <Application>Microsoft Office PowerPoint</Application>
  <PresentationFormat>宽屏</PresentationFormat>
  <Paragraphs>387</Paragraphs>
  <Slides>14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微软雅黑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骆春阳</dc:creator>
  <cp:keywords/>
  <dc:description>generated using python-pptx</dc:description>
  <cp:lastModifiedBy>骆春阳_工学院</cp:lastModifiedBy>
  <cp:revision>8</cp:revision>
  <dcterms:created xsi:type="dcterms:W3CDTF">2013-01-27T09:14:16Z</dcterms:created>
  <dcterms:modified xsi:type="dcterms:W3CDTF">2026-06-02T07:44:22Z</dcterms:modified>
  <cp:category/>
</cp:coreProperties>
</file>